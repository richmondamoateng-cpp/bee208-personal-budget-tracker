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rsonal Budget Tracker – BEE 208 Project Presentation" id="{E6CF4482-0F6B-41FD-8A12-F1816CFB609A}">
          <p14:sldIdLst>
            <p14:sldId id="2561"/>
          </p14:sldIdLst>
        </p14:section>
        <p14:section name="Personal Budget Tracker Project Overview" id="{63C974FC-FB22-4BC3-93B0-275D88DFB7C7}">
          <p14:sldIdLst>
            <p14:sldId id="2562"/>
            <p14:sldId id="2563"/>
            <p14:sldId id="2564"/>
            <p14:sldId id="2565"/>
            <p14:sldId id="2566"/>
            <p14:sldId id="2567"/>
            <p14:sldId id="2568"/>
            <p14:sldId id="2569"/>
            <p14:sldId id="2570"/>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34A43C-9BDD-462E-83BC-89D37E448A83}" type="datetimeFigureOut">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67C946-4A0E-46BC-AA70-6CF09C1F7C55}" type="slidenum">
              <a:t>‹#›</a:t>
            </a:fld>
            <a:endParaRPr lang="en-US"/>
          </a:p>
        </p:txBody>
      </p:sp>
    </p:spTree>
    <p:extLst>
      <p:ext uri="{BB962C8B-B14F-4D97-AF65-F5344CB8AC3E}">
        <p14:creationId xmlns:p14="http://schemas.microsoft.com/office/powerpoint/2010/main" val="1566864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66D68786-FDD1-4660-BBDF-0E10C2A2765D}" type="slidenum">
              <a:t>1</a:t>
            </a:fld>
            <a:endParaRPr lang="en-US"/>
          </a:p>
        </p:txBody>
      </p:sp>
    </p:spTree>
    <p:extLst>
      <p:ext uri="{BB962C8B-B14F-4D97-AF65-F5344CB8AC3E}">
        <p14:creationId xmlns:p14="http://schemas.microsoft.com/office/powerpoint/2010/main" val="1840055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Title and Project Identification, Project Background, Problem Statement, Aim and Objectives, Application Requirements, Algorithm Overview, C++ Concepts Used, Budget Status Logic, Sample Output, Conclusion
</a:t>
            </a:r>
          </a:p>
        </p:txBody>
      </p:sp>
      <p:sp>
        <p:nvSpPr>
          <p:cNvPr id="4" name="Slide Number Placeholder 3"/>
          <p:cNvSpPr>
            <a:spLocks noGrp="1"/>
          </p:cNvSpPr>
          <p:nvPr>
            <p:ph type="sldNum" sz="quarter" idx="5"/>
          </p:nvPr>
        </p:nvSpPr>
        <p:spPr/>
        <p:txBody>
          <a:bodyPr/>
          <a:lstStyle/>
          <a:p>
            <a:fld id="{66D68786-FDD1-4660-BBDF-0E10C2A2765D}" type="slidenum">
              <a:t>2</a:t>
            </a:fld>
            <a:endParaRPr lang="en-US"/>
          </a:p>
        </p:txBody>
      </p:sp>
    </p:spTree>
    <p:extLst>
      <p:ext uri="{BB962C8B-B14F-4D97-AF65-F5344CB8AC3E}">
        <p14:creationId xmlns:p14="http://schemas.microsoft.com/office/powerpoint/2010/main" val="3979852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This presentation introduces the Personal Budget Tracker project developed as part of the BEE 208 C++ Programming course at Accra Technical University. The project is categorized as a non-technical application, meaning it focuses less on complex algorithms and more on applying fundamental programming concepts to solve a real-life problem. The title slide sets the academic and institutional context by clearly stating the course code, project title, and university. This helps examiners and panel members immediately understand the purpose and scope of the work. The project itself addresses everyday financial challenges faced by students, workers, and small households, making it highly relevant and practical. By using C++ as the implementation language, the project demonstrates how core programming constructs such as input/output, loops, conditionals, and file handling can be applied to personal finance management. The title slide also establishes professionalism and organization, which are important assessment criteria during project defence. Overall, this slide serves as an entry point into the project narrative, preparing the audience for a structured discussion of the background, problem statement, objectives, system design, implementation, and outcomes.
</a:t>
            </a:r>
          </a:p>
        </p:txBody>
      </p:sp>
      <p:sp>
        <p:nvSpPr>
          <p:cNvPr id="4" name="Slide Number Placeholder 3"/>
          <p:cNvSpPr>
            <a:spLocks noGrp="1"/>
          </p:cNvSpPr>
          <p:nvPr>
            <p:ph type="sldNum" sz="quarter" idx="5"/>
          </p:nvPr>
        </p:nvSpPr>
        <p:spPr/>
        <p:txBody>
          <a:bodyPr/>
          <a:lstStyle/>
          <a:p>
            <a:fld id="{66D68786-FDD1-4660-BBDF-0E10C2A2765D}" type="slidenum">
              <a:t>3</a:t>
            </a:fld>
            <a:endParaRPr lang="en-US"/>
          </a:p>
        </p:txBody>
      </p:sp>
    </p:spTree>
    <p:extLst>
      <p:ext uri="{BB962C8B-B14F-4D97-AF65-F5344CB8AC3E}">
        <p14:creationId xmlns:p14="http://schemas.microsoft.com/office/powerpoint/2010/main" val="4247874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The background of the Personal Budget Tracker project is rooted in the importance of financial planning in daily life. Personal budgeting enables individuals to monitor how income is earned, how expenses are incurred, and how savings can be achieved over time. Many people receive income from multiple sources such as salaries, allowances, or small businesses, while also spending on necessities like food, transport, utilities, and personal needs. Without a structured way of recording these transactions, it becomes difficult to assess financial health. This project was designed to respond to this challenge by providing a simple, console-based C++ application that allows users to enter income and expenses and receive a clear financial summary. From an academic perspective, the background also highlights the intention of the course to train students in problem-solving using programming. The project links theoretical knowledge from lectures to a realistic application scenario. By focusing on budgeting, the project demonstrates social relevance, usability, and simplicity, all of which are key considerations in non-technical programming projects.
</a:t>
            </a:r>
          </a:p>
        </p:txBody>
      </p:sp>
      <p:sp>
        <p:nvSpPr>
          <p:cNvPr id="4" name="Slide Number Placeholder 3"/>
          <p:cNvSpPr>
            <a:spLocks noGrp="1"/>
          </p:cNvSpPr>
          <p:nvPr>
            <p:ph type="sldNum" sz="quarter" idx="5"/>
          </p:nvPr>
        </p:nvSpPr>
        <p:spPr/>
        <p:txBody>
          <a:bodyPr/>
          <a:lstStyle/>
          <a:p>
            <a:fld id="{66D68786-FDD1-4660-BBDF-0E10C2A2765D}" type="slidenum">
              <a:t>4</a:t>
            </a:fld>
            <a:endParaRPr lang="en-US"/>
          </a:p>
        </p:txBody>
      </p:sp>
    </p:spTree>
    <p:extLst>
      <p:ext uri="{BB962C8B-B14F-4D97-AF65-F5344CB8AC3E}">
        <p14:creationId xmlns:p14="http://schemas.microsoft.com/office/powerpoint/2010/main" val="3706277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The core problem addressed by this project is the lack of proper financial record-keeping among many individuals. People often spend money without tracking their income and expenses, which leads to poor financial decisions, overspending, and inability to save. For students especially, limited income combined with unplanned spending can result in financial stress. The absence of a simple tracking system makes it hard to determine whether one is living within their means. This project identifies that gap and proposes a solution in the form of a Personal Budget Tracker application. The problem statement clearly defines the need for a system that is easy to use, accurate, and capable of summarizing financial data in a meaningful way. By framing the problem in simple terms, the project ensures that the solution remains focused on user needs rather than unnecessary technical complexity.
</a:t>
            </a:r>
          </a:p>
        </p:txBody>
      </p:sp>
      <p:sp>
        <p:nvSpPr>
          <p:cNvPr id="4" name="Slide Number Placeholder 3"/>
          <p:cNvSpPr>
            <a:spLocks noGrp="1"/>
          </p:cNvSpPr>
          <p:nvPr>
            <p:ph type="sldNum" sz="quarter" idx="5"/>
          </p:nvPr>
        </p:nvSpPr>
        <p:spPr/>
        <p:txBody>
          <a:bodyPr/>
          <a:lstStyle/>
          <a:p>
            <a:fld id="{66D68786-FDD1-4660-BBDF-0E10C2A2765D}" type="slidenum">
              <a:t>5</a:t>
            </a:fld>
            <a:endParaRPr lang="en-US"/>
          </a:p>
        </p:txBody>
      </p:sp>
    </p:spTree>
    <p:extLst>
      <p:ext uri="{BB962C8B-B14F-4D97-AF65-F5344CB8AC3E}">
        <p14:creationId xmlns:p14="http://schemas.microsoft.com/office/powerpoint/2010/main" val="1175470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The main aim of the project is to develop a C++ Personal Budget Tracker that records income and expenses, calculates totals, determines the remaining balance, and classifies the user’s budget status. To achieve this aim, several specific objectives were outlined. These include accepting multiple income and expense records, performing accurate calculations, validating user input to prevent negative values, and presenting a clear financial report. Additional objectives involve saving the final budget report to a text file and using GitHub with Markdown documentation for submission. Together, these objectives ensure that the project is not only functional but also well-documented and aligned with academic requirements. The clear definition of aims and objectives guides both the development process and the evaluation of the final system.
</a:t>
            </a:r>
          </a:p>
        </p:txBody>
      </p:sp>
      <p:sp>
        <p:nvSpPr>
          <p:cNvPr id="4" name="Slide Number Placeholder 3"/>
          <p:cNvSpPr>
            <a:spLocks noGrp="1"/>
          </p:cNvSpPr>
          <p:nvPr>
            <p:ph type="sldNum" sz="quarter" idx="5"/>
          </p:nvPr>
        </p:nvSpPr>
        <p:spPr/>
        <p:txBody>
          <a:bodyPr/>
          <a:lstStyle/>
          <a:p>
            <a:fld id="{66D68786-FDD1-4660-BBDF-0E10C2A2765D}" type="slidenum">
              <a:t>6</a:t>
            </a:fld>
            <a:endParaRPr lang="en-US"/>
          </a:p>
        </p:txBody>
      </p:sp>
    </p:spTree>
    <p:extLst>
      <p:ext uri="{BB962C8B-B14F-4D97-AF65-F5344CB8AC3E}">
        <p14:creationId xmlns:p14="http://schemas.microsoft.com/office/powerpoint/2010/main" val="1147070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The application requirements define what the Personal Budget Tracker must be able to do. These include allowing the user to enter their name and budget period, record multiple income sources and expense categories, and reject any negative values. The system must calculate total income, total expenses, and the remaining balance. It must also classify the budget status using decision rules and save the final report to a text file. These requirements ensure that the application meets both functional and academic standards. They also serve as a checklist for testing and validation, making it easier to confirm that the system works as intended.
</a:t>
            </a:r>
          </a:p>
        </p:txBody>
      </p:sp>
      <p:sp>
        <p:nvSpPr>
          <p:cNvPr id="4" name="Slide Number Placeholder 3"/>
          <p:cNvSpPr>
            <a:spLocks noGrp="1"/>
          </p:cNvSpPr>
          <p:nvPr>
            <p:ph type="sldNum" sz="quarter" idx="5"/>
          </p:nvPr>
        </p:nvSpPr>
        <p:spPr/>
        <p:txBody>
          <a:bodyPr/>
          <a:lstStyle/>
          <a:p>
            <a:fld id="{66D68786-FDD1-4660-BBDF-0E10C2A2765D}" type="slidenum">
              <a:t>7</a:t>
            </a:fld>
            <a:endParaRPr lang="en-US"/>
          </a:p>
        </p:txBody>
      </p:sp>
    </p:spTree>
    <p:extLst>
      <p:ext uri="{BB962C8B-B14F-4D97-AF65-F5344CB8AC3E}">
        <p14:creationId xmlns:p14="http://schemas.microsoft.com/office/powerpoint/2010/main" val="4145513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The algorithm for the Personal Budget Tracker provides a step-by-step description of how the system operates. It starts by displaying the system title and collecting basic user information such as the budget owner’s name and budget period. The algorithm then uses loops to accept multiple income and expense entries, validating each input to ensure no negative values are recorded. After all data is collected, the algorithm calculates the remaining balance by subtracting total expenses from total income. Decision statements are then used to classify the budget status. Finally, the system displays the budget report and saves it to a file. This logical flow ensures clarity, correctness, and ease of implementation.
</a:t>
            </a:r>
          </a:p>
        </p:txBody>
      </p:sp>
      <p:sp>
        <p:nvSpPr>
          <p:cNvPr id="4" name="Slide Number Placeholder 3"/>
          <p:cNvSpPr>
            <a:spLocks noGrp="1"/>
          </p:cNvSpPr>
          <p:nvPr>
            <p:ph type="sldNum" sz="quarter" idx="5"/>
          </p:nvPr>
        </p:nvSpPr>
        <p:spPr/>
        <p:txBody>
          <a:bodyPr/>
          <a:lstStyle/>
          <a:p>
            <a:fld id="{66D68786-FDD1-4660-BBDF-0E10C2A2765D}" type="slidenum">
              <a:t>8</a:t>
            </a:fld>
            <a:endParaRPr lang="en-US"/>
          </a:p>
        </p:txBody>
      </p:sp>
    </p:spTree>
    <p:extLst>
      <p:ext uri="{BB962C8B-B14F-4D97-AF65-F5344CB8AC3E}">
        <p14:creationId xmlns:p14="http://schemas.microsoft.com/office/powerpoint/2010/main" val="1940012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Several core C++ programming concepts were applied in this project. Input and output operations were handled using cin and cout. Variables and appropriate data types stored financial values. Loops enabled the recording of multiple income and expense entries. Conditional statements were used for validation and budget classification. Functions and classes improved code organization and readability, while file handling allowed the program to save reports. These concepts collectively demonstrate a solid understanding of introductory C++ programming.
</a:t>
            </a:r>
          </a:p>
        </p:txBody>
      </p:sp>
      <p:sp>
        <p:nvSpPr>
          <p:cNvPr id="4" name="Slide Number Placeholder 3"/>
          <p:cNvSpPr>
            <a:spLocks noGrp="1"/>
          </p:cNvSpPr>
          <p:nvPr>
            <p:ph type="sldNum" sz="quarter" idx="5"/>
          </p:nvPr>
        </p:nvSpPr>
        <p:spPr/>
        <p:txBody>
          <a:bodyPr/>
          <a:lstStyle/>
          <a:p>
            <a:fld id="{66D68786-FDD1-4660-BBDF-0E10C2A2765D}" type="slidenum">
              <a:t>9</a:t>
            </a:fld>
            <a:endParaRPr lang="en-US"/>
          </a:p>
        </p:txBody>
      </p:sp>
    </p:spTree>
    <p:extLst>
      <p:ext uri="{BB962C8B-B14F-4D97-AF65-F5344CB8AC3E}">
        <p14:creationId xmlns:p14="http://schemas.microsoft.com/office/powerpoint/2010/main" val="314173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The budget status logic is a critical part of the application. It uses simple relational comparisons to determine whether the user is saving, balanced, or overspending. This logic makes the output meaningful and actionable for users. By clearly labeling financial status, the system helps users understand their spending behavior and make better decisions in the future.
</a:t>
            </a:r>
          </a:p>
        </p:txBody>
      </p:sp>
      <p:sp>
        <p:nvSpPr>
          <p:cNvPr id="4" name="Slide Number Placeholder 3"/>
          <p:cNvSpPr>
            <a:spLocks noGrp="1"/>
          </p:cNvSpPr>
          <p:nvPr>
            <p:ph type="sldNum" sz="quarter" idx="5"/>
          </p:nvPr>
        </p:nvSpPr>
        <p:spPr/>
        <p:txBody>
          <a:bodyPr/>
          <a:lstStyle/>
          <a:p>
            <a:fld id="{66D68786-FDD1-4660-BBDF-0E10C2A2765D}" type="slidenum">
              <a:t>10</a:t>
            </a:fld>
            <a:endParaRPr lang="en-US"/>
          </a:p>
        </p:txBody>
      </p:sp>
    </p:spTree>
    <p:extLst>
      <p:ext uri="{BB962C8B-B14F-4D97-AF65-F5344CB8AC3E}">
        <p14:creationId xmlns:p14="http://schemas.microsoft.com/office/powerpoint/2010/main" val="1267033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The sample output demonstrates how the application presents results to the user. It displays total income, total expenses, remaining balance, and budget status in a clear and readable format. This output confirms that the system meets its functional requirements and provides useful feedback to the user.
</a:t>
            </a:r>
          </a:p>
        </p:txBody>
      </p:sp>
      <p:sp>
        <p:nvSpPr>
          <p:cNvPr id="4" name="Slide Number Placeholder 3"/>
          <p:cNvSpPr>
            <a:spLocks noGrp="1"/>
          </p:cNvSpPr>
          <p:nvPr>
            <p:ph type="sldNum" sz="quarter" idx="5"/>
          </p:nvPr>
        </p:nvSpPr>
        <p:spPr/>
        <p:txBody>
          <a:bodyPr/>
          <a:lstStyle/>
          <a:p>
            <a:fld id="{66D68786-FDD1-4660-BBDF-0E10C2A2765D}" type="slidenum">
              <a:t>11</a:t>
            </a:fld>
            <a:endParaRPr lang="en-US"/>
          </a:p>
        </p:txBody>
      </p:sp>
    </p:spTree>
    <p:extLst>
      <p:ext uri="{BB962C8B-B14F-4D97-AF65-F5344CB8AC3E}">
        <p14:creationId xmlns:p14="http://schemas.microsoft.com/office/powerpoint/2010/main" val="1501354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https://atuedughana-my.sharepoint.com/personal/01243179b_st_atu_edu_gh/_layouts/15/Doc.aspx?sourcedoc=%7B2CEDED60-1258-4C3C-BA2E-FBF04C2BF279%7D&amp;file=BEE_208_Non_Technical_Project_Question_14_Personal_Budget_Tracker.docx&amp;action=default&amp;mobileredirect=true
In conclusion, the Personal Budget Tracker project successfully applies fundamental C++ programming concepts to solve a real-world problem. The system is simple, user-friendly, and effective in helping users track income and expenses. Through this project, students demonstrate both technical competence and practical problem-solving skills. The project also prepares students for more advanced applications by reinforcing good programming practices, documentation, and presentation skills.
</a:t>
            </a:r>
          </a:p>
        </p:txBody>
      </p:sp>
      <p:sp>
        <p:nvSpPr>
          <p:cNvPr id="4" name="Slide Number Placeholder 3"/>
          <p:cNvSpPr>
            <a:spLocks noGrp="1"/>
          </p:cNvSpPr>
          <p:nvPr>
            <p:ph type="sldNum" sz="quarter" idx="5"/>
          </p:nvPr>
        </p:nvSpPr>
        <p:spPr/>
        <p:txBody>
          <a:bodyPr/>
          <a:lstStyle/>
          <a:p>
            <a:fld id="{66D68786-FDD1-4660-BBDF-0E10C2A2765D}" type="slidenum">
              <a:t>12</a:t>
            </a:fld>
            <a:endParaRPr lang="en-US"/>
          </a:p>
        </p:txBody>
      </p:sp>
    </p:spTree>
    <p:extLst>
      <p:ext uri="{BB962C8B-B14F-4D97-AF65-F5344CB8AC3E}">
        <p14:creationId xmlns:p14="http://schemas.microsoft.com/office/powerpoint/2010/main" val="38702504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CEC995A3-E0A5-4676-A9AF-F0C909981ECB}" type="datetime1">
              <a:rPr lang="en-US" smtClean="0"/>
              <a:t>7/17/2026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03654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757465A-0D42-4CE1-AFF3-B073304A15C1}"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655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512724" y="1480212"/>
            <a:ext cx="3918954" cy="2273637"/>
          </a:xfrm>
        </p:spPr>
        <p:txBody>
          <a:bodyPr vert="horz" lIns="91440" tIns="45720" rIns="91440" bIns="45720" rtlCol="0" anchor="b">
            <a:normAutofit/>
          </a:bodyPr>
          <a:lstStyle>
            <a:lvl1pPr algn="ctr">
              <a:defRPr lang="en-US" sz="3600" dirty="0">
                <a:solidFill>
                  <a:schemeClr val="tx2">
                    <a:alpha val="90000"/>
                  </a:schemeClr>
                </a:solidFill>
              </a:defRPr>
            </a:lvl1pPr>
          </a:lstStyle>
          <a:p>
            <a:pPr lvl="0" algn="ctr"/>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20272" y="4232388"/>
            <a:ext cx="3703859" cy="1542770"/>
          </a:xfrm>
        </p:spPr>
        <p:txBody>
          <a:bodyPr vert="horz" lIns="91440" tIns="45720" rIns="91440" bIns="45720" rtlCol="0">
            <a:normAutofit/>
          </a:bodyPr>
          <a:lstStyle>
            <a:lvl1pPr marL="0" indent="0" algn="ctr">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4A1835B1-6951-4309-9053-BE4E81FB8E03}" type="datetime1">
              <a:rPr lang="en-US" smtClean="0"/>
              <a:t>7/17/2026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4633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79967DC5-E470-48CC-82D8-CEDE62F29D19}" type="datetime1">
              <a:rPr lang="en-US" smtClean="0"/>
              <a:t>7/17/2026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802581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5160261"/>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5931483"/>
            <a:ext cx="10813067" cy="61155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7BE4F4F9-573B-47D0-A4A5-817CADD2D474}" type="datetime1">
              <a:rPr lang="en-US" smtClean="0"/>
              <a:t>7/17/2026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87614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096430" y="1226087"/>
            <a:ext cx="7961965" cy="3290611"/>
          </a:xfrm>
        </p:spPr>
        <p:txBody>
          <a:bodyPr anchor="ctr">
            <a:normAutofit/>
          </a:bodyPr>
          <a:lstStyle>
            <a:lvl1pPr algn="ctr">
              <a:defRPr sz="48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656CA5CC-FBE5-4E14-8A41-8D7D52E31B58}" type="datetime1">
              <a:rPr lang="en-US" smtClean="0"/>
              <a:t>7/17/2026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99402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A9AA3B70-D00B-4980-A015-1C0E626DF50E}" type="datetime1">
              <a:rPr lang="en-US" smtClean="0"/>
              <a:t>7/17/2026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21954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312F3BB1-914E-438E-BD74-6A311287D919}" type="datetime1">
              <a:rPr lang="en-US" smtClean="0"/>
              <a:t>7/17/2026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502512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485F5966-244A-4C45-A322-E0358B5F232D}" type="datetime1">
              <a:rPr lang="en-US" smtClean="0"/>
              <a:t>7/17/2026</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12323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A120C13C-E5BA-4C6F-97EC-7ED9FED9F00F}" type="datetime1">
              <a:rPr lang="en-US" smtClean="0"/>
              <a:t>7/17/2026</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13411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38822EE7-D1D9-49E1-ACB4-B26137BA6046}" type="datetime1">
              <a:rPr lang="en-US" smtClean="0"/>
              <a:t>7/17/2026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8512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1118941"/>
            <a:ext cx="6565392" cy="5200516"/>
          </a:xfrm>
        </p:spPr>
        <p:txBody>
          <a:bodyPr anchor="b">
            <a:normAutofit/>
          </a:bodyPr>
          <a:lstStyle>
            <a:lvl1pPr>
              <a:lnSpc>
                <a:spcPct val="80000"/>
              </a:lnSpc>
              <a:defRPr sz="8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857689" y="532759"/>
            <a:ext cx="3877110" cy="5463437"/>
          </a:xfrm>
        </p:spPr>
        <p:txBody>
          <a:bodyPr vert="horz" lIns="91440" tIns="45720" rIns="91440" bIns="45720" rtlCol="0">
            <a:normAutofit/>
          </a:bodyPr>
          <a:lstStyle>
            <a:lvl1pPr marL="457200" indent="-457200">
              <a:buFont typeface="+mj-lt"/>
              <a:buAutoNum type="arabicPeriod"/>
              <a:defRPr lang="en-US" sz="1800" dirty="0">
                <a:solidFill>
                  <a:schemeClr val="tx2"/>
                </a:solidFill>
              </a:defRPr>
            </a:lvl1pPr>
            <a:lvl2pPr marL="571500" indent="-342900">
              <a:buFont typeface="+mj-lt"/>
              <a:buAutoNum type="arabicPeriod"/>
              <a:defRPr lang="en-US" sz="16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78605A7A-4E58-4262-A4C8-0CEBAB0BD7D7}" type="datetime1">
              <a:rPr lang="en-US" smtClean="0"/>
              <a:t>7/17/2026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6393610"/>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59F74D3B-08F1-4128-A0DD-D98948091814}" type="datetime1">
              <a:rPr lang="en-US" smtClean="0"/>
              <a:t>7/17/2026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96716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2919167" y="860128"/>
            <a:ext cx="6353666" cy="1711083"/>
          </a:xfrm>
        </p:spPr>
        <p:txBody>
          <a:bodyPr anchor="b">
            <a:normAutofit/>
          </a:bodyPr>
          <a:lstStyle>
            <a:lvl1pPr algn="ct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306618" y="3155112"/>
            <a:ext cx="5578764" cy="2442120"/>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569F03E-8F3D-45C8-83CD-FE5FFA1D3D3D}"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30658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3494711" y="845617"/>
            <a:ext cx="5897862" cy="14363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494711" y="2910484"/>
            <a:ext cx="5897862" cy="3066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503127A-22C7-468D-93CC-12C3481D646F}"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366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8E3289B-2847-4243-8AC2-16B80421B246}"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52435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1163119"/>
            <a:ext cx="4152377" cy="3434657"/>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824602" y="1153691"/>
            <a:ext cx="5496988" cy="4568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A2B06BC-4130-43D9-8C70-3F4149BEA124}"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58830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6658FB9-5B5A-40D6-B700-5844DFBC6D9D}"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4687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280573"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662388" y="720473"/>
            <a:ext cx="7072408"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1ADA2446-1DA6-4646-A7C8-A97E4FEED4A5}"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9217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DE5AF8D-062C-4564-BE74-279E83E29552}"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70239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557784"/>
            <a:ext cx="6781799" cy="1009652"/>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84832"/>
            <a:ext cx="6781800"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DA1DED5-D880-408E-9B87-244378097D23}"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2970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0B7660C-CAF5-4FC9-86B5-B26A7E4A8EC1}"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6633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0CD6142-072F-48E5-B67D-3EF3F812C6FE}"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638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5365423" y="678485"/>
            <a:ext cx="6369370"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37389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297296F-18E7-4078-BB93-29D93663E6A0}"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9482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39E9172E-8915-4EB5-A370-10EC0AFCA12E}"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73645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191500" y="458144"/>
            <a:ext cx="3433926" cy="1681551"/>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191500" y="2276856"/>
            <a:ext cx="3433926" cy="378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B63082-E6A0-4066-A0B6-20A068686B3D}"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1605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95658D0F-C182-4C92-ACB9-F964CC184FE5}"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14435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52D4831-0D6F-486E-80BE-7F39D2F5ED34}"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2870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664673" y="586591"/>
            <a:ext cx="2915036" cy="1600279"/>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664673" y="2714536"/>
            <a:ext cx="2915038" cy="3227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F7C01F2-786A-4547-AA46-CD2877B354BD}"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4165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5036986"/>
            <a:ext cx="3985579" cy="1397477"/>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03180" y="5054245"/>
            <a:ext cx="6376529" cy="131983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499ABE-5F93-4088-8566-BB529608048F}"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0419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ED3A249-75EB-4C76-9409-A32D8B181240}"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43827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1413"/>
            <a:ext cx="3511296" cy="164574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7448" y="451414"/>
            <a:ext cx="7013448" cy="2215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a:lstStyle/>
          <a:p>
            <a:fld id="{63E7A831-F734-410E-9779-E79021D23E13}"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a:lstStyle/>
          <a:p>
            <a:fld id="{DDF60B60-82CA-4BB9-BA6E-A62FADF2374B}" type="slidenum">
              <a:rPr lang="en-US" smtClean="0"/>
              <a:t>‹#›</a:t>
            </a:fld>
            <a:endParaRPr lang="en-US"/>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6815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6"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1" y="2098467"/>
            <a:ext cx="4415882" cy="4078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D06634F-DA76-40B0-97CF-85DC9063AB6E}"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64202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5"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98467"/>
            <a:ext cx="6802582"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CC66734-9A2A-4446-A520-0882E1F375C6}"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83643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CB4D471-E280-448C-B853-A053C5314683}"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47259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377072"/>
            <a:ext cx="4000500"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438534" y="377072"/>
            <a:ext cx="614117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2EFF2A1-EC7F-4AB7-95CC-1A5D4960DDDC}"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13826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25C997E-D623-46F9-983F-02EE2A50E962}" type="datetime1">
              <a:rPr lang="en-US" smtClean="0"/>
              <a:t>7/17/2026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1851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C9562A37-9792-4A3D-AC02-6A4B23C1446C}" type="datetime1">
              <a:rPr lang="en-US" smtClean="0"/>
              <a:t>7/17/2026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561225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0" anchor="ctr">
            <a:normAutofit/>
          </a:bodyPr>
          <a:lstStyle>
            <a:lvl1pPr algn="ctr">
              <a:lnSpc>
                <a:spcPct val="110000"/>
              </a:lnSpc>
              <a:defRPr lang="en-US" sz="2400" cap="all" spc="200" baseline="0" dirty="0">
                <a:solidFill>
                  <a:schemeClr val="accent4">
                    <a:lumMod val="75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accent4">
                    <a:lumMod val="75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1F117CE1-1F0B-4FFC-8B82-41B7D828BC9C}" type="datetime1">
              <a:rPr lang="en-US" smtClean="0"/>
              <a:t>7/17/2026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005489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0" anchor="ctr">
            <a:normAutofit/>
          </a:bodyPr>
          <a:lstStyle>
            <a:lvl1pPr algn="ctr">
              <a:lnSpc>
                <a:spcPct val="120000"/>
              </a:lnSpc>
              <a:defRPr lang="en-US" sz="2600" cap="all" spc="100" baseline="0" dirty="0">
                <a:solidFill>
                  <a:schemeClr val="accent4"/>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0" anchor="b">
            <a:normAutofit/>
          </a:bodyPr>
          <a:lstStyle>
            <a:lvl1pPr marL="0" indent="0" algn="ctr">
              <a:lnSpc>
                <a:spcPct val="90000"/>
              </a:lnSpc>
              <a:spcBef>
                <a:spcPts val="0"/>
              </a:spcBef>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B971A27B-A749-472F-81B6-1B05B1178D9A}" type="datetime1">
              <a:rPr lang="en-US" smtClean="0"/>
              <a:t>7/17/2026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8186861"/>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0" anchor="ctr">
            <a:normAutofit/>
          </a:bodyPr>
          <a:lstStyle>
            <a:lvl1pPr>
              <a:lnSpc>
                <a:spcPct val="120000"/>
              </a:lnSpc>
              <a:defRPr lang="en-US" sz="2400" cap="all" spc="200" baseline="0" dirty="0">
                <a:solidFill>
                  <a:schemeClr val="tx2">
                    <a:alpha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0" anchor="b">
            <a:normAutofit/>
          </a:bodyPr>
          <a:lstStyle>
            <a:lvl1pPr marL="0" indent="0">
              <a:lnSpc>
                <a:spcPct val="90000"/>
              </a:lnSpc>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9C256155-0B73-4143-9F64-E379DA5158D3}" type="datetime1">
              <a:rPr lang="en-US" smtClean="0"/>
              <a:t>7/17/2026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9277144"/>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F5C9C745-4A41-4FD7-8C4E-D0B169A2E651}" type="datetime1">
              <a:rPr lang="en-US" smtClean="0"/>
              <a:t>7/17/2026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144418"/>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tatement 2">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anchor="ctr">
            <a:normAutofit/>
          </a:bodyPr>
          <a:lstStyle>
            <a:lvl1pPr marL="0" indent="0" algn="ctr">
              <a:lnSpc>
                <a:spcPct val="120000"/>
              </a:lnSpc>
              <a:buNone/>
              <a:defRPr sz="4000" b="0" cap="all" spc="260" baseline="0">
                <a:solidFill>
                  <a:schemeClr val="tx2"/>
                </a:solidFill>
              </a:defRPr>
            </a:lvl1pPr>
            <a:lvl2pPr marL="228600" indent="0" algn="ctr">
              <a:lnSpc>
                <a:spcPct val="120000"/>
              </a:lnSpc>
              <a:buNone/>
              <a:defRPr sz="4000" b="0" cap="all" spc="260" baseline="0">
                <a:solidFill>
                  <a:schemeClr val="tx2"/>
                </a:solidFill>
              </a:defRPr>
            </a:lvl2pPr>
            <a:lvl3pPr marL="457200" indent="0" algn="ctr">
              <a:lnSpc>
                <a:spcPct val="120000"/>
              </a:lnSpc>
              <a:buNone/>
              <a:defRPr sz="4000" b="0" cap="all" spc="260" baseline="0">
                <a:solidFill>
                  <a:schemeClr val="tx2"/>
                </a:solidFill>
              </a:defRPr>
            </a:lvl3pPr>
            <a:lvl4pPr marL="685800" indent="0" algn="ctr">
              <a:lnSpc>
                <a:spcPct val="120000"/>
              </a:lnSpc>
              <a:buNone/>
              <a:defRPr sz="4000" b="0" cap="all" spc="260" baseline="0">
                <a:solidFill>
                  <a:schemeClr val="tx2"/>
                </a:solidFill>
              </a:defRPr>
            </a:lvl4pPr>
            <a:lvl5pPr marL="914400" indent="0" algn="ctr">
              <a:lnSpc>
                <a:spcPct val="120000"/>
              </a:lnSpc>
              <a:buNone/>
              <a:defRPr sz="4000" b="0" cap="all" spc="260" baseline="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5FF4AC15-629B-4452-BF74-F975BDB281F7}" type="datetime1">
              <a:rPr lang="en-US" smtClean="0"/>
              <a:t>7/17/2026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3836676"/>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alpha val="90000"/>
                  </a:schemeClr>
                </a:solidFill>
                <a:latin typeface="+mj-lt"/>
              </a:defRPr>
            </a:lvl1pPr>
            <a:lvl2pPr marL="228600" indent="0" algn="ctr">
              <a:lnSpc>
                <a:spcPct val="110000"/>
              </a:lnSpc>
              <a:buNone/>
              <a:defRPr sz="4800" b="0">
                <a:solidFill>
                  <a:schemeClr val="tx2">
                    <a:alpha val="90000"/>
                  </a:schemeClr>
                </a:solidFill>
                <a:latin typeface="+mj-lt"/>
              </a:defRPr>
            </a:lvl2pPr>
            <a:lvl3pPr marL="457200" indent="0" algn="ctr">
              <a:lnSpc>
                <a:spcPct val="110000"/>
              </a:lnSpc>
              <a:buNone/>
              <a:defRPr sz="4400" b="0">
                <a:solidFill>
                  <a:schemeClr val="tx2">
                    <a:alpha val="90000"/>
                  </a:schemeClr>
                </a:solidFill>
                <a:latin typeface="+mj-lt"/>
              </a:defRPr>
            </a:lvl3pPr>
            <a:lvl4pPr marL="685800" indent="0" algn="ctr">
              <a:lnSpc>
                <a:spcPct val="110000"/>
              </a:lnSpc>
              <a:buNone/>
              <a:defRPr sz="4000" b="0">
                <a:solidFill>
                  <a:schemeClr val="tx2">
                    <a:alpha val="90000"/>
                  </a:schemeClr>
                </a:solidFill>
                <a:latin typeface="+mj-lt"/>
              </a:defRPr>
            </a:lvl4pPr>
            <a:lvl5pPr marL="914400" indent="0" algn="ctr">
              <a:lnSpc>
                <a:spcPct val="110000"/>
              </a:lnSpc>
              <a:buNone/>
              <a:defRPr sz="36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E2F4F173-9D81-4F4A-B482-47266F50A4EC}" type="datetime1">
              <a:rPr lang="en-US" smtClean="0"/>
              <a:t>7/17/2026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429577"/>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anchor="ctr">
            <a:noAutofit/>
          </a:bodyPr>
          <a:lstStyle>
            <a:lvl1pPr marL="0" indent="0">
              <a:lnSpc>
                <a:spcPct val="100000"/>
              </a:lnSpc>
              <a:buNone/>
              <a:defRPr sz="6200" b="0">
                <a:solidFill>
                  <a:schemeClr val="tx2">
                    <a:alpha val="90000"/>
                  </a:schemeClr>
                </a:solidFill>
                <a:latin typeface="+mj-lt"/>
              </a:defRPr>
            </a:lvl1pPr>
            <a:lvl2pPr marL="228600" indent="0">
              <a:lnSpc>
                <a:spcPct val="100000"/>
              </a:lnSpc>
              <a:buNone/>
              <a:defRPr sz="6200" b="0">
                <a:solidFill>
                  <a:schemeClr val="tx2">
                    <a:alpha val="90000"/>
                  </a:schemeClr>
                </a:solidFill>
                <a:latin typeface="+mj-lt"/>
              </a:defRPr>
            </a:lvl2pPr>
            <a:lvl3pPr marL="457200" indent="0">
              <a:lnSpc>
                <a:spcPct val="100000"/>
              </a:lnSpc>
              <a:buNone/>
              <a:defRPr sz="6200" b="0">
                <a:solidFill>
                  <a:schemeClr val="tx2">
                    <a:alpha val="90000"/>
                  </a:schemeClr>
                </a:solidFill>
                <a:latin typeface="+mj-lt"/>
              </a:defRPr>
            </a:lvl3pPr>
            <a:lvl4pPr marL="685800" indent="0">
              <a:lnSpc>
                <a:spcPct val="100000"/>
              </a:lnSpc>
              <a:buNone/>
              <a:defRPr sz="6200" b="0">
                <a:solidFill>
                  <a:schemeClr val="tx2">
                    <a:alpha val="90000"/>
                  </a:schemeClr>
                </a:solidFill>
                <a:latin typeface="+mj-lt"/>
              </a:defRPr>
            </a:lvl4pPr>
            <a:lvl5pPr marL="914400" indent="0">
              <a:lnSpc>
                <a:spcPct val="100000"/>
              </a:lnSpc>
              <a:buNone/>
              <a:defRPr sz="62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E1D5883-312E-414B-BA92-FC743CE74AFA}" type="datetime1">
              <a:rPr lang="en-US" smtClean="0"/>
              <a:t>7/17/2026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665619"/>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1B1F07D8-634D-4D2D-8C34-7897958C6326}" type="datetime1">
              <a:rPr lang="en-US" smtClean="0"/>
              <a:t>7/17/2026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251899"/>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anchor="ctr">
            <a:normAutofit/>
          </a:bodyPr>
          <a:lstStyle>
            <a:lvl1pPr>
              <a:lnSpc>
                <a:spcPct val="120000"/>
              </a:lnSpc>
              <a:defRPr sz="1800" b="1" cap="all" spc="100" baseline="0">
                <a:solidFill>
                  <a:schemeClr val="accent1"/>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anchor="ctr">
            <a:normAutofit/>
          </a:bodyPr>
          <a:lstStyle>
            <a:lvl1pPr marL="182880" indent="-182880">
              <a:buNone/>
              <a:defRPr sz="4000">
                <a:solidFill>
                  <a:schemeClr val="tx2">
                    <a:alpha val="80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D828E69F-DC35-4F0C-990E-2C4AD9ABE5D4}" type="datetime1">
              <a:rPr lang="en-US" smtClean="0"/>
              <a:t>7/17/2026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562096"/>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anchor="ctr">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anchor="ctr">
            <a:normAutofit/>
          </a:bodyPr>
          <a:lstStyle>
            <a:lvl1pPr marL="182880" indent="-182880">
              <a:buNone/>
              <a:defRPr sz="3600">
                <a:solidFill>
                  <a:schemeClr val="tx2"/>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383AA1E6-689D-475B-91E1-A092F45675DC}" type="datetime1">
              <a:rPr lang="en-US" smtClean="0"/>
              <a:t>7/17/2026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390007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anchor="t">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anchor="b">
            <a:normAutofit/>
          </a:bodyPr>
          <a:lstStyle>
            <a:lvl1pPr marL="182880" indent="-182880">
              <a:buNone/>
              <a:defRPr sz="3600">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4F427333-25B4-4E53-B4DB-DECC946CD366}" type="datetime1">
              <a:rPr lang="en-US" smtClean="0"/>
              <a:t>7/17/2026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497912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558C1084-D30E-4793-9DB8-FB87472B5D63}" type="datetime1">
              <a:rPr lang="en-US" smtClean="0"/>
              <a:t>7/17/2026</a:t>
            </a:fld>
            <a:endParaRPr lang="en-US"/>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70978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r>
              <a:rPr lang="en-US"/>
              <a:t>Sample Footer Text</a:t>
            </a:r>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123C8380-BA28-4545-958E-1509715E2ECF}" type="datetime1">
              <a:rPr lang="en-US" smtClean="0"/>
              <a:t>7/17/2026</a:t>
            </a:fld>
            <a:endParaRPr lang="en-US"/>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368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3235819A-32CF-4E28-B3BF-584E7896B0B9}" type="datetime1">
              <a:rPr lang="en-US" smtClean="0"/>
              <a:t>7/17/2026</a:t>
            </a:fld>
            <a:endParaRPr lang="en-US"/>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4888260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24FD1C49-B0F9-453B-AEA5-082224781CE0}" type="datetime1">
              <a:rPr lang="en-US" smtClean="0"/>
              <a:t>7/17/2026</a:t>
            </a:fld>
            <a:endParaRPr lang="en-US"/>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425542240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B5AB-0FA3-E8AE-A6A1-C03EE2DDAC1C}"/>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407D3D71-61A7-7BE9-20ED-B5AF76B017E2}"/>
              </a:ext>
            </a:extLst>
          </p:cNvPr>
          <p:cNvSpPr>
            <a:spLocks noGrp="1"/>
          </p:cNvSpPr>
          <p:nvPr>
            <p:ph type="body" sz="half" idx="2"/>
          </p:nvPr>
        </p:nvSpPr>
        <p:spPr>
          <a:xfrm>
            <a:off x="457200" y="2057400"/>
            <a:ext cx="3840480" cy="397925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94D1ED4A-75CE-22B6-973F-969688C90EC1}"/>
              </a:ext>
            </a:extLst>
          </p:cNvPr>
          <p:cNvSpPr>
            <a:spLocks noGrp="1"/>
          </p:cNvSpPr>
          <p:nvPr>
            <p:ph idx="1"/>
          </p:nvPr>
        </p:nvSpPr>
        <p:spPr>
          <a:xfrm>
            <a:off x="5183187" y="457201"/>
            <a:ext cx="6551601" cy="557945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8525825D-6882-CF7E-DED2-796EB50E5624}"/>
              </a:ext>
            </a:extLst>
          </p:cNvPr>
          <p:cNvSpPr>
            <a:spLocks noGrp="1"/>
          </p:cNvSpPr>
          <p:nvPr>
            <p:ph type="dt" sz="half" idx="10"/>
          </p:nvPr>
        </p:nvSpPr>
        <p:spPr/>
        <p:txBody>
          <a:bodyPr/>
          <a:lstStyle/>
          <a:p>
            <a:fld id="{E1499D84-B6AF-4AD4-8BA4-CA27940FE19C}" type="datetime1">
              <a:rPr lang="en-US" smtClean="0"/>
              <a:t>7/17/2026</a:t>
            </a:fld>
            <a:endParaRPr lang="en-US"/>
          </a:p>
        </p:txBody>
      </p:sp>
      <p:sp>
        <p:nvSpPr>
          <p:cNvPr id="7" name="Slide Number Placeholder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71931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64BF-25B8-DF5F-78A5-EF299DBC0FE5}"/>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3EB6BD76-5832-C2AF-7743-B7CB3A9FD207}"/>
              </a:ext>
            </a:extLst>
          </p:cNvPr>
          <p:cNvSpPr>
            <a:spLocks noGrp="1"/>
          </p:cNvSpPr>
          <p:nvPr>
            <p:ph type="body" sz="half" idx="2"/>
          </p:nvPr>
        </p:nvSpPr>
        <p:spPr>
          <a:xfrm>
            <a:off x="457200" y="2073584"/>
            <a:ext cx="3840480" cy="38807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F47D41FD-57A5-7CC9-58D3-3ACA20265E6C}"/>
              </a:ext>
            </a:extLst>
          </p:cNvPr>
          <p:cNvSpPr>
            <a:spLocks noGrp="1"/>
          </p:cNvSpPr>
          <p:nvPr>
            <p:ph type="dt" sz="half" idx="10"/>
          </p:nvPr>
        </p:nvSpPr>
        <p:spPr/>
        <p:txBody>
          <a:bodyPr/>
          <a:lstStyle/>
          <a:p>
            <a:fld id="{88160925-047A-4C6B-94FB-6885B6031109}" type="datetime1">
              <a:rPr lang="en-US" smtClean="0"/>
              <a:t>7/17/2026</a:t>
            </a:fld>
            <a:endParaRPr lang="en-US"/>
          </a:p>
        </p:txBody>
      </p:sp>
      <p:sp>
        <p:nvSpPr>
          <p:cNvPr id="7" name="Slide Number Placeholder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1042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D049693-73B8-4968-A0F1-3875574BBB60}" type="datetime1">
              <a:rPr lang="en-US" smtClean="0"/>
              <a:t>7/17/2026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668894"/>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69F7915E-BF18-4119-A409-F175A6E221CE}" type="datetime1">
              <a:rPr lang="en-US" smtClean="0"/>
              <a:t>7/17/2026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745983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r>
              <a:rPr lang="en-US"/>
              <a:t>Sample Footer Text</a:t>
            </a:r>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40DAA6B7-91A8-481F-87E9-5D18FE514C0E}" type="datetime1">
              <a:rPr lang="en-US" smtClean="0"/>
              <a:t>7/17/2026</a:t>
            </a:fld>
            <a:endParaRPr lang="en-US"/>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154575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87C87-66E8-9C15-0F2C-F120D64D3F7B}"/>
              </a:ext>
            </a:extLst>
          </p:cNvPr>
          <p:cNvSpPr>
            <a:spLocks noGrp="1"/>
          </p:cNvSpPr>
          <p:nvPr>
            <p:ph type="ctrTitle"/>
          </p:nvPr>
        </p:nvSpPr>
        <p:spPr>
          <a:xfrm>
            <a:off x="685800" y="5160261"/>
            <a:ext cx="10813067" cy="783835"/>
          </a:xfrm>
        </p:spPr>
        <p:txBody>
          <a:bodyPr anchor="b">
            <a:normAutofit fontScale="90000"/>
          </a:bodyPr>
          <a:lstStyle/>
          <a:p>
            <a:r>
              <a:rPr lang="en-US" sz="3300" dirty="0"/>
              <a:t>Personal Budget Tracker – </a:t>
            </a:r>
            <a:r>
              <a:rPr lang="en-US" sz="3300" b="1" dirty="0"/>
              <a:t>G R O U P  25 </a:t>
            </a:r>
            <a:r>
              <a:rPr lang="en-US" sz="3300" dirty="0"/>
              <a:t>Project Presentation</a:t>
            </a:r>
          </a:p>
        </p:txBody>
      </p:sp>
      <p:sp>
        <p:nvSpPr>
          <p:cNvPr id="3" name="Subtitle 2">
            <a:extLst>
              <a:ext uri="{FF2B5EF4-FFF2-40B4-BE49-F238E27FC236}">
                <a16:creationId xmlns:a16="http://schemas.microsoft.com/office/drawing/2014/main" id="{AD91A683-02CC-E2C5-D3B9-DB8A0852EA48}"/>
              </a:ext>
            </a:extLst>
          </p:cNvPr>
          <p:cNvSpPr>
            <a:spLocks noGrp="1"/>
          </p:cNvSpPr>
          <p:nvPr>
            <p:ph type="subTitle" idx="1"/>
          </p:nvPr>
        </p:nvSpPr>
        <p:spPr>
          <a:xfrm>
            <a:off x="685800" y="5931483"/>
            <a:ext cx="10813067" cy="611557"/>
          </a:xfrm>
        </p:spPr>
        <p:txBody>
          <a:bodyPr>
            <a:normAutofit/>
          </a:bodyPr>
          <a:lstStyle/>
          <a:p>
            <a:r>
              <a:rPr lang="en-US"/>
              <a:t>An effective tool for managing personal finances</a:t>
            </a:r>
          </a:p>
        </p:txBody>
      </p:sp>
      <p:pic>
        <p:nvPicPr>
          <p:cNvPr id="4" name="Picture 3" descr="White calculator">
            <a:extLst>
              <a:ext uri="{FF2B5EF4-FFF2-40B4-BE49-F238E27FC236}">
                <a16:creationId xmlns:a16="http://schemas.microsoft.com/office/drawing/2014/main" id="{53646742-DCF9-4242-8206-26BA405B273B}"/>
              </a:ext>
            </a:extLst>
          </p:cNvPr>
          <p:cNvPicPr>
            <a:picLocks noChangeAspect="1"/>
          </p:cNvPicPr>
          <p:nvPr/>
        </p:nvPicPr>
        <p:blipFill>
          <a:blip r:embed="rId3"/>
          <a:srcRect t="8802" b="24470"/>
          <a:stretch>
            <a:fillRect/>
          </a:stretch>
        </p:blipFill>
        <p:spPr>
          <a:xfrm>
            <a:off x="462974" y="10"/>
            <a:ext cx="11268845" cy="5019180"/>
          </a:xfrm>
          <a:prstGeom prst="rect">
            <a:avLst/>
          </a:prstGeom>
        </p:spPr>
      </p:pic>
    </p:spTree>
    <p:extLst>
      <p:ext uri="{BB962C8B-B14F-4D97-AF65-F5344CB8AC3E}">
        <p14:creationId xmlns:p14="http://schemas.microsoft.com/office/powerpoint/2010/main" val="398262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75BFD-7023-A954-FA61-5E89F975DAC6}"/>
              </a:ext>
            </a:extLst>
          </p:cNvPr>
          <p:cNvSpPr>
            <a:spLocks noGrp="1"/>
          </p:cNvSpPr>
          <p:nvPr>
            <p:ph type="title"/>
          </p:nvPr>
        </p:nvSpPr>
        <p:spPr>
          <a:xfrm>
            <a:off x="457200" y="2968607"/>
            <a:ext cx="8932653" cy="3450568"/>
          </a:xfrm>
        </p:spPr>
        <p:txBody>
          <a:bodyPr anchor="b">
            <a:normAutofit/>
          </a:bodyPr>
          <a:lstStyle/>
          <a:p>
            <a:r>
              <a:rPr lang="en-US"/>
              <a:t>Personal Budget Tracker Project Overview</a:t>
            </a:r>
          </a:p>
        </p:txBody>
      </p:sp>
    </p:spTree>
    <p:extLst>
      <p:ext uri="{BB962C8B-B14F-4D97-AF65-F5344CB8AC3E}">
        <p14:creationId xmlns:p14="http://schemas.microsoft.com/office/powerpoint/2010/main" val="17916071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EB496-DBBC-D2B3-B572-51370A80DAB4}"/>
              </a:ext>
            </a:extLst>
          </p:cNvPr>
          <p:cNvSpPr>
            <a:spLocks noGrp="1"/>
          </p:cNvSpPr>
          <p:nvPr>
            <p:ph type="title"/>
          </p:nvPr>
        </p:nvSpPr>
        <p:spPr>
          <a:xfrm>
            <a:off x="457199" y="377072"/>
            <a:ext cx="4958078" cy="1225485"/>
          </a:xfrm>
        </p:spPr>
        <p:txBody>
          <a:bodyPr anchor="t">
            <a:normAutofit/>
          </a:bodyPr>
          <a:lstStyle/>
          <a:p>
            <a:r>
              <a:rPr lang="en-US"/>
              <a:t>Title and Project Identification</a:t>
            </a:r>
          </a:p>
        </p:txBody>
      </p:sp>
      <p:pic>
        <p:nvPicPr>
          <p:cNvPr id="5" name="Content Placeholder 4" descr="New business. Laptop and tablet are standing on a table in front of a big window with garden view, home interior. Nobody at the desk. Vintage style, dusk light.">
            <a:extLst>
              <a:ext uri="{FF2B5EF4-FFF2-40B4-BE49-F238E27FC236}">
                <a16:creationId xmlns:a16="http://schemas.microsoft.com/office/drawing/2014/main" id="{71D87FA6-DC65-4D21-9E02-1D170B87D56C}"/>
              </a:ext>
            </a:extLst>
          </p:cNvPr>
          <p:cNvPicPr>
            <a:picLocks noGrp="1" noChangeAspect="1"/>
          </p:cNvPicPr>
          <p:nvPr>
            <p:ph type="pic" sz="quarter" idx="13"/>
          </p:nvPr>
        </p:nvPicPr>
        <p:blipFill>
          <a:blip r:embed="rId3"/>
          <a:srcRect t="21044" r="-3" b="-3"/>
          <a:stretch>
            <a:fillRect/>
          </a:stretch>
        </p:blipFill>
        <p:spPr>
          <a:xfrm>
            <a:off x="20" y="1842182"/>
            <a:ext cx="5758152" cy="4546457"/>
          </a:xfrm>
        </p:spPr>
      </p:pic>
      <p:sp>
        <p:nvSpPr>
          <p:cNvPr id="4" name="Content Placeholder 3">
            <a:extLst>
              <a:ext uri="{FF2B5EF4-FFF2-40B4-BE49-F238E27FC236}">
                <a16:creationId xmlns:a16="http://schemas.microsoft.com/office/drawing/2014/main" id="{5B0F512D-0288-0C12-A097-CA25EBCDFA3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lvl="0" indent="0">
              <a:spcBef>
                <a:spcPts val="2500"/>
              </a:spcBef>
              <a:buFont typeface="Arial" panose="020B0604020202020204" pitchFamily="34" charset="0"/>
              <a:buNone/>
            </a:pPr>
            <a:r>
              <a:rPr lang="en-US" sz="1400" b="1"/>
              <a:t>Project Context</a:t>
            </a:r>
          </a:p>
          <a:p>
            <a:pPr marL="0" lvl="1" indent="0">
              <a:buFont typeface="Arial" panose="020B0604020202020204" pitchFamily="34" charset="0"/>
              <a:buNone/>
            </a:pPr>
            <a:r>
              <a:rPr lang="en-US" sz="1400"/>
              <a:t>The project is part of a C++ programming course focusing on practical application of fundamental concepts.</a:t>
            </a:r>
          </a:p>
          <a:p>
            <a:pPr marL="0" lvl="0" indent="0">
              <a:spcBef>
                <a:spcPts val="2500"/>
              </a:spcBef>
              <a:buFont typeface="Arial" panose="020B0604020202020204" pitchFamily="34" charset="0"/>
              <a:buNone/>
            </a:pPr>
            <a:r>
              <a:rPr lang="en-US" sz="1400" b="1"/>
              <a:t>Project Purpose</a:t>
            </a:r>
          </a:p>
          <a:p>
            <a:pPr marL="0" lvl="1" indent="0">
              <a:buFont typeface="Arial" panose="020B0604020202020204" pitchFamily="34" charset="0"/>
              <a:buNone/>
            </a:pPr>
            <a:r>
              <a:rPr lang="en-US" sz="1400"/>
              <a:t>The Personal Budget Tracker helps manage everyday financial challenges faced by students and households.</a:t>
            </a:r>
          </a:p>
          <a:p>
            <a:pPr marL="0" lvl="0" indent="0">
              <a:spcBef>
                <a:spcPts val="2500"/>
              </a:spcBef>
              <a:buFont typeface="Arial" panose="020B0604020202020204" pitchFamily="34" charset="0"/>
              <a:buNone/>
            </a:pPr>
            <a:r>
              <a:rPr lang="en-US" sz="1400" b="1"/>
              <a:t>Technical Focus</a:t>
            </a:r>
          </a:p>
          <a:p>
            <a:pPr marL="0" lvl="1" indent="0">
              <a:buFont typeface="Arial" panose="020B0604020202020204" pitchFamily="34" charset="0"/>
              <a:buNone/>
            </a:pPr>
            <a:r>
              <a:rPr lang="en-US" sz="1400"/>
              <a:t>Uses C++ core constructs like input/output, loops, conditionals, and file handling for implementation.</a:t>
            </a:r>
          </a:p>
          <a:p>
            <a:pPr marL="0" lvl="0" indent="0">
              <a:spcBef>
                <a:spcPts val="2500"/>
              </a:spcBef>
              <a:buFont typeface="Arial" panose="020B0604020202020204" pitchFamily="34" charset="0"/>
              <a:buNone/>
            </a:pPr>
            <a:r>
              <a:rPr lang="en-US" sz="1400" b="1"/>
              <a:t>Presentation Significance</a:t>
            </a:r>
          </a:p>
          <a:p>
            <a:pPr marL="0" lvl="1" indent="0">
              <a:buFont typeface="Arial" panose="020B0604020202020204" pitchFamily="34" charset="0"/>
              <a:buNone/>
            </a:pPr>
            <a:r>
              <a:rPr lang="en-US" sz="1400"/>
              <a:t>Title slide establishes professionalism and prepares audience for project discussion and defence.</a:t>
            </a:r>
          </a:p>
        </p:txBody>
      </p:sp>
    </p:spTree>
    <p:extLst>
      <p:ext uri="{BB962C8B-B14F-4D97-AF65-F5344CB8AC3E}">
        <p14:creationId xmlns:p14="http://schemas.microsoft.com/office/powerpoint/2010/main" val="41435414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CA88D-4A70-E89A-1107-5009924913C4}"/>
              </a:ext>
            </a:extLst>
          </p:cNvPr>
          <p:cNvSpPr>
            <a:spLocks noGrp="1"/>
          </p:cNvSpPr>
          <p:nvPr>
            <p:ph type="title"/>
          </p:nvPr>
        </p:nvSpPr>
        <p:spPr>
          <a:xfrm>
            <a:off x="457199" y="377072"/>
            <a:ext cx="4958078" cy="1225485"/>
          </a:xfrm>
        </p:spPr>
        <p:txBody>
          <a:bodyPr anchor="t">
            <a:normAutofit/>
          </a:bodyPr>
          <a:lstStyle/>
          <a:p>
            <a:r>
              <a:rPr lang="en-US"/>
              <a:t>Project Background</a:t>
            </a:r>
          </a:p>
        </p:txBody>
      </p:sp>
      <p:pic>
        <p:nvPicPr>
          <p:cNvPr id="5" name="Content Placeholder 4" descr="Stock photo showing a ceramic pig stood beside a laptop computer with a bar chart on the screen. This is a concept picture designed to suggest savings, mortgages, loans, home finances, wealth and the general cost of living.">
            <a:extLst>
              <a:ext uri="{FF2B5EF4-FFF2-40B4-BE49-F238E27FC236}">
                <a16:creationId xmlns:a16="http://schemas.microsoft.com/office/drawing/2014/main" id="{8433DD4F-5041-4555-8B4E-CD59A5824CA4}"/>
              </a:ext>
            </a:extLst>
          </p:cNvPr>
          <p:cNvPicPr>
            <a:picLocks noGrp="1" noChangeAspect="1"/>
          </p:cNvPicPr>
          <p:nvPr>
            <p:ph type="pic" sz="quarter" idx="13"/>
          </p:nvPr>
        </p:nvPicPr>
        <p:blipFill>
          <a:blip r:embed="rId3"/>
          <a:srcRect l="15460"/>
          <a:stretch>
            <a:fillRect/>
          </a:stretch>
        </p:blipFill>
        <p:spPr>
          <a:xfrm>
            <a:off x="20" y="1842182"/>
            <a:ext cx="5758152" cy="4546457"/>
          </a:xfrm>
        </p:spPr>
      </p:pic>
      <p:sp>
        <p:nvSpPr>
          <p:cNvPr id="4" name="Content Placeholder 3">
            <a:extLst>
              <a:ext uri="{FF2B5EF4-FFF2-40B4-BE49-F238E27FC236}">
                <a16:creationId xmlns:a16="http://schemas.microsoft.com/office/drawing/2014/main" id="{9EE0837E-4063-D651-AED6-50164C4B9CF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lvl="0" indent="0">
              <a:spcBef>
                <a:spcPts val="2500"/>
              </a:spcBef>
              <a:buFont typeface="Arial" panose="020B0604020202020204" pitchFamily="34" charset="0"/>
              <a:buNone/>
            </a:pPr>
            <a:r>
              <a:rPr lang="en-US" sz="1400" b="1"/>
              <a:t>Importance of Financial Planning</a:t>
            </a:r>
          </a:p>
          <a:p>
            <a:pPr marL="0" lvl="1" indent="0">
              <a:buFont typeface="Arial" panose="020B0604020202020204" pitchFamily="34" charset="0"/>
              <a:buNone/>
            </a:pPr>
            <a:r>
              <a:rPr lang="en-US" sz="1400"/>
              <a:t>Personal budgeting helps people monitor income, expenses, and savings for better financial health.</a:t>
            </a:r>
          </a:p>
          <a:p>
            <a:pPr marL="0" lvl="0" indent="0">
              <a:spcBef>
                <a:spcPts val="2500"/>
              </a:spcBef>
              <a:buFont typeface="Arial" panose="020B0604020202020204" pitchFamily="34" charset="0"/>
              <a:buNone/>
            </a:pPr>
            <a:r>
              <a:rPr lang="en-US" sz="1400" b="1"/>
              <a:t>Multiple Income and Expense Sources</a:t>
            </a:r>
          </a:p>
          <a:p>
            <a:pPr marL="0" lvl="1" indent="0">
              <a:buFont typeface="Arial" panose="020B0604020202020204" pitchFamily="34" charset="0"/>
              <a:buNone/>
            </a:pPr>
            <a:r>
              <a:rPr lang="en-US" sz="1400"/>
              <a:t>Income can come from salaries, allowances, or businesses while expenses cover necessities and personal needs.</a:t>
            </a:r>
          </a:p>
          <a:p>
            <a:pPr marL="0" lvl="0" indent="0">
              <a:spcBef>
                <a:spcPts val="2500"/>
              </a:spcBef>
              <a:buFont typeface="Arial" panose="020B0604020202020204" pitchFamily="34" charset="0"/>
              <a:buNone/>
            </a:pPr>
            <a:r>
              <a:rPr lang="en-US" sz="1400" b="1"/>
              <a:t>Simple Console-Based Application</a:t>
            </a:r>
          </a:p>
          <a:p>
            <a:pPr marL="0" lvl="1" indent="0">
              <a:buFont typeface="Arial" panose="020B0604020202020204" pitchFamily="34" charset="0"/>
              <a:buNone/>
            </a:pPr>
            <a:r>
              <a:rPr lang="en-US" sz="1400"/>
              <a:t>The project offers a console-based C++ app to enter transactions and get financial summaries easily.</a:t>
            </a:r>
          </a:p>
          <a:p>
            <a:pPr marL="0" lvl="0" indent="0">
              <a:spcBef>
                <a:spcPts val="2500"/>
              </a:spcBef>
              <a:buFont typeface="Arial" panose="020B0604020202020204" pitchFamily="34" charset="0"/>
              <a:buNone/>
            </a:pPr>
            <a:r>
              <a:rPr lang="en-US" sz="1400" b="1"/>
              <a:t>Academic and Social Relevance</a:t>
            </a:r>
          </a:p>
          <a:p>
            <a:pPr marL="0" lvl="1" indent="0">
              <a:buFont typeface="Arial" panose="020B0604020202020204" pitchFamily="34" charset="0"/>
              <a:buNone/>
            </a:pPr>
            <a:r>
              <a:rPr lang="en-US" sz="1400"/>
              <a:t>This project connects programming theory to real-life budgeting, emphasizing usability and social impact.</a:t>
            </a:r>
          </a:p>
        </p:txBody>
      </p:sp>
    </p:spTree>
    <p:extLst>
      <p:ext uri="{BB962C8B-B14F-4D97-AF65-F5344CB8AC3E}">
        <p14:creationId xmlns:p14="http://schemas.microsoft.com/office/powerpoint/2010/main" val="209529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2A55E-27BF-7B3D-2CFD-6A82ED1DAAF3}"/>
              </a:ext>
            </a:extLst>
          </p:cNvPr>
          <p:cNvSpPr>
            <a:spLocks noGrp="1"/>
          </p:cNvSpPr>
          <p:nvPr>
            <p:ph type="title"/>
          </p:nvPr>
        </p:nvSpPr>
        <p:spPr>
          <a:xfrm>
            <a:off x="7739922" y="458144"/>
            <a:ext cx="3909536" cy="1485873"/>
          </a:xfrm>
        </p:spPr>
        <p:txBody>
          <a:bodyPr anchor="b">
            <a:normAutofit/>
          </a:bodyPr>
          <a:lstStyle/>
          <a:p>
            <a:r>
              <a:rPr lang="en-US"/>
              <a:t>Problem Statement</a:t>
            </a:r>
          </a:p>
        </p:txBody>
      </p:sp>
      <p:pic>
        <p:nvPicPr>
          <p:cNvPr id="5" name="Content Placeholder 4" descr="Hand man doing finances and calculate on desk about cost at home office">
            <a:extLst>
              <a:ext uri="{FF2B5EF4-FFF2-40B4-BE49-F238E27FC236}">
                <a16:creationId xmlns:a16="http://schemas.microsoft.com/office/drawing/2014/main" id="{770E3CF4-535D-4970-87BE-76879627D055}"/>
              </a:ext>
            </a:extLst>
          </p:cNvPr>
          <p:cNvPicPr>
            <a:picLocks noGrp="1" noChangeAspect="1"/>
          </p:cNvPicPr>
          <p:nvPr>
            <p:ph type="pic" sz="quarter" idx="13"/>
          </p:nvPr>
        </p:nvPicPr>
        <p:blipFill>
          <a:blip r:embed="rId3"/>
          <a:srcRect l="1751" r="22397"/>
          <a:stretch>
            <a:fillRect/>
          </a:stretch>
        </p:blipFill>
        <p:spPr>
          <a:xfrm>
            <a:off x="20" y="10"/>
            <a:ext cx="7268376" cy="6396271"/>
          </a:xfrm>
        </p:spPr>
      </p:pic>
      <p:sp>
        <p:nvSpPr>
          <p:cNvPr id="4" name="Content Placeholder 3">
            <a:extLst>
              <a:ext uri="{FF2B5EF4-FFF2-40B4-BE49-F238E27FC236}">
                <a16:creationId xmlns:a16="http://schemas.microsoft.com/office/drawing/2014/main" id="{C6075859-E36F-41C3-ED3E-097844AC295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39922" y="2463789"/>
            <a:ext cx="3909534" cy="3561091"/>
          </a:xfrm>
        </p:spPr>
        <p:txBody>
          <a:bodyPr>
            <a:normAutofit/>
          </a:bodyPr>
          <a:lstStyle/>
          <a:p>
            <a:pPr marL="0" lvl="0" indent="0">
              <a:lnSpc>
                <a:spcPct val="110000"/>
              </a:lnSpc>
              <a:spcBef>
                <a:spcPts val="2500"/>
              </a:spcBef>
              <a:buFont typeface="Arial" panose="020B0604020202020204" pitchFamily="34" charset="0"/>
              <a:buNone/>
            </a:pPr>
            <a:r>
              <a:rPr lang="en-US" sz="1300" b="1"/>
              <a:t>Lack of Financial Tracking</a:t>
            </a:r>
          </a:p>
          <a:p>
            <a:pPr marL="0" lvl="1" indent="0">
              <a:lnSpc>
                <a:spcPct val="110000"/>
              </a:lnSpc>
              <a:buFont typeface="Arial" panose="020B0604020202020204" pitchFamily="34" charset="0"/>
              <a:buNone/>
            </a:pPr>
            <a:r>
              <a:rPr lang="en-US" sz="1300"/>
              <a:t>Many individuals do not track their income and expenses, causing poor financial decisions and overspending.</a:t>
            </a:r>
          </a:p>
          <a:p>
            <a:pPr marL="0" lvl="0" indent="0">
              <a:lnSpc>
                <a:spcPct val="110000"/>
              </a:lnSpc>
              <a:spcBef>
                <a:spcPts val="2500"/>
              </a:spcBef>
              <a:buFont typeface="Arial" panose="020B0604020202020204" pitchFamily="34" charset="0"/>
              <a:buNone/>
            </a:pPr>
            <a:r>
              <a:rPr lang="en-US" sz="1300" b="1"/>
              <a:t>Student Financial Stress</a:t>
            </a:r>
          </a:p>
          <a:p>
            <a:pPr marL="0" lvl="1" indent="0">
              <a:lnSpc>
                <a:spcPct val="110000"/>
              </a:lnSpc>
              <a:buFont typeface="Arial" panose="020B0604020202020204" pitchFamily="34" charset="0"/>
              <a:buNone/>
            </a:pPr>
            <a:r>
              <a:rPr lang="en-US" sz="1300"/>
              <a:t>Students face financial stress due to limited income and unplanned spending without proper budgeting tools.</a:t>
            </a:r>
          </a:p>
          <a:p>
            <a:pPr marL="0" lvl="0" indent="0">
              <a:lnSpc>
                <a:spcPct val="110000"/>
              </a:lnSpc>
              <a:spcBef>
                <a:spcPts val="2500"/>
              </a:spcBef>
              <a:buFont typeface="Arial" panose="020B0604020202020204" pitchFamily="34" charset="0"/>
              <a:buNone/>
            </a:pPr>
            <a:r>
              <a:rPr lang="en-US" sz="1300" b="1"/>
              <a:t>Need for Simple Tracking System</a:t>
            </a:r>
          </a:p>
          <a:p>
            <a:pPr marL="0" lvl="1" indent="0">
              <a:lnSpc>
                <a:spcPct val="110000"/>
              </a:lnSpc>
              <a:buFont typeface="Arial" panose="020B0604020202020204" pitchFamily="34" charset="0"/>
              <a:buNone/>
            </a:pPr>
            <a:r>
              <a:rPr lang="en-US" sz="1300"/>
              <a:t>There is a clear need for an easy-to-use, accurate tracking system summarizing financial data effectively.</a:t>
            </a:r>
          </a:p>
        </p:txBody>
      </p:sp>
    </p:spTree>
    <p:extLst>
      <p:ext uri="{BB962C8B-B14F-4D97-AF65-F5344CB8AC3E}">
        <p14:creationId xmlns:p14="http://schemas.microsoft.com/office/powerpoint/2010/main" val="7594039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08909-DB85-7F87-FE41-7360CB736DA6}"/>
              </a:ext>
            </a:extLst>
          </p:cNvPr>
          <p:cNvSpPr>
            <a:spLocks noGrp="1"/>
          </p:cNvSpPr>
          <p:nvPr>
            <p:ph type="title"/>
          </p:nvPr>
        </p:nvSpPr>
        <p:spPr>
          <a:xfrm>
            <a:off x="8191500" y="458144"/>
            <a:ext cx="3433926" cy="1681551"/>
          </a:xfrm>
        </p:spPr>
        <p:txBody>
          <a:bodyPr anchor="b">
            <a:normAutofit/>
          </a:bodyPr>
          <a:lstStyle/>
          <a:p>
            <a:r>
              <a:rPr lang="en-US"/>
              <a:t>Aim and Objectives</a:t>
            </a:r>
          </a:p>
        </p:txBody>
      </p:sp>
      <p:pic>
        <p:nvPicPr>
          <p:cNvPr id="5" name="Content Placeholder 4" descr="numerals and finance">
            <a:extLst>
              <a:ext uri="{FF2B5EF4-FFF2-40B4-BE49-F238E27FC236}">
                <a16:creationId xmlns:a16="http://schemas.microsoft.com/office/drawing/2014/main" id="{BD333672-C002-46E9-A735-E6DB486F21B2}"/>
              </a:ext>
            </a:extLst>
          </p:cNvPr>
          <p:cNvPicPr>
            <a:picLocks noGrp="1" noChangeAspect="1"/>
          </p:cNvPicPr>
          <p:nvPr>
            <p:ph type="pic" sz="quarter" idx="13"/>
          </p:nvPr>
        </p:nvPicPr>
        <p:blipFill>
          <a:blip r:embed="rId3"/>
          <a:srcRect r="19412"/>
          <a:stretch>
            <a:fillRect/>
          </a:stretch>
        </p:blipFill>
        <p:spPr>
          <a:xfrm>
            <a:off x="20" y="10"/>
            <a:ext cx="7722272" cy="6396271"/>
          </a:xfrm>
        </p:spPr>
      </p:pic>
      <p:sp>
        <p:nvSpPr>
          <p:cNvPr id="4" name="Content Placeholder 3">
            <a:extLst>
              <a:ext uri="{FF2B5EF4-FFF2-40B4-BE49-F238E27FC236}">
                <a16:creationId xmlns:a16="http://schemas.microsoft.com/office/drawing/2014/main" id="{089EFE6F-1D54-A641-5FA0-3AE59E89FB9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91500" y="2276856"/>
            <a:ext cx="3433926" cy="3785616"/>
          </a:xfrm>
        </p:spPr>
        <p:txBody>
          <a:bodyPr>
            <a:normAutofit/>
          </a:bodyPr>
          <a:lstStyle/>
          <a:p>
            <a:pPr marL="0" lvl="0" indent="0">
              <a:lnSpc>
                <a:spcPct val="110000"/>
              </a:lnSpc>
              <a:spcBef>
                <a:spcPts val="2500"/>
              </a:spcBef>
              <a:buFont typeface="Arial" panose="020B0604020202020204" pitchFamily="34" charset="0"/>
              <a:buNone/>
            </a:pPr>
            <a:r>
              <a:rPr lang="en-US" sz="1400" b="1"/>
              <a:t>Project Aim</a:t>
            </a:r>
          </a:p>
          <a:p>
            <a:pPr marL="0" lvl="1" indent="0">
              <a:lnSpc>
                <a:spcPct val="110000"/>
              </a:lnSpc>
              <a:buFont typeface="Arial" panose="020B0604020202020204" pitchFamily="34" charset="0"/>
              <a:buNone/>
            </a:pPr>
            <a:r>
              <a:rPr lang="en-US" sz="1400"/>
              <a:t>Develop a C++ Personal Budget Tracker to record and classify income and expenses accurately.</a:t>
            </a:r>
          </a:p>
          <a:p>
            <a:pPr marL="0" lvl="0" indent="0">
              <a:lnSpc>
                <a:spcPct val="110000"/>
              </a:lnSpc>
              <a:spcBef>
                <a:spcPts val="2500"/>
              </a:spcBef>
              <a:buFont typeface="Arial" panose="020B0604020202020204" pitchFamily="34" charset="0"/>
              <a:buNone/>
            </a:pPr>
            <a:r>
              <a:rPr lang="en-US" sz="1400" b="1"/>
              <a:t>Core Functional Objectives</a:t>
            </a:r>
          </a:p>
          <a:p>
            <a:pPr marL="0" lvl="1" indent="0">
              <a:lnSpc>
                <a:spcPct val="110000"/>
              </a:lnSpc>
              <a:buFont typeface="Arial" panose="020B0604020202020204" pitchFamily="34" charset="0"/>
              <a:buNone/>
            </a:pPr>
            <a:r>
              <a:rPr lang="en-US" sz="1400"/>
              <a:t>Accept multiple records, calculate totals, validate inputs, and generate clear financial reports.</a:t>
            </a:r>
          </a:p>
          <a:p>
            <a:pPr marL="0" lvl="0" indent="0">
              <a:lnSpc>
                <a:spcPct val="110000"/>
              </a:lnSpc>
              <a:spcBef>
                <a:spcPts val="2500"/>
              </a:spcBef>
              <a:buFont typeface="Arial" panose="020B0604020202020204" pitchFamily="34" charset="0"/>
              <a:buNone/>
            </a:pPr>
            <a:r>
              <a:rPr lang="en-US" sz="1400" b="1"/>
              <a:t>Documentation and Submission</a:t>
            </a:r>
          </a:p>
          <a:p>
            <a:pPr marL="0" lvl="1" indent="0">
              <a:lnSpc>
                <a:spcPct val="110000"/>
              </a:lnSpc>
              <a:buFont typeface="Arial" panose="020B0604020202020204" pitchFamily="34" charset="0"/>
              <a:buNone/>
            </a:pPr>
            <a:r>
              <a:rPr lang="en-US" sz="1400"/>
              <a:t>Save reports to text files and use GitHub with Markdown for proper project documentation and submission.</a:t>
            </a:r>
          </a:p>
        </p:txBody>
      </p:sp>
    </p:spTree>
    <p:extLst>
      <p:ext uri="{BB962C8B-B14F-4D97-AF65-F5344CB8AC3E}">
        <p14:creationId xmlns:p14="http://schemas.microsoft.com/office/powerpoint/2010/main" val="3383607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E6F26-4109-97D7-7F3B-E60444008DCF}"/>
              </a:ext>
            </a:extLst>
          </p:cNvPr>
          <p:cNvSpPr>
            <a:spLocks noGrp="1"/>
          </p:cNvSpPr>
          <p:nvPr>
            <p:ph type="title"/>
          </p:nvPr>
        </p:nvSpPr>
        <p:spPr>
          <a:xfrm>
            <a:off x="685800" y="360221"/>
            <a:ext cx="10515600" cy="1330468"/>
          </a:xfrm>
        </p:spPr>
        <p:txBody>
          <a:bodyPr anchor="b">
            <a:normAutofit/>
          </a:bodyPr>
          <a:lstStyle/>
          <a:p>
            <a:r>
              <a:rPr lang="en-US"/>
              <a:t>Application Requirements</a:t>
            </a:r>
          </a:p>
        </p:txBody>
      </p:sp>
      <p:graphicFrame>
        <p:nvGraphicFramePr>
          <p:cNvPr id="5" name="Content Placeholder 4">
            <a:extLst>
              <a:ext uri="{FF2B5EF4-FFF2-40B4-BE49-F238E27FC236}">
                <a16:creationId xmlns:a16="http://schemas.microsoft.com/office/drawing/2014/main" id="{BDE228DB-74E8-490C-A2B7-7DC1A3CA1481}"/>
              </a:ext>
            </a:extLst>
          </p:cNvPr>
          <p:cNvGraphicFramePr>
            <a:graphicFrameLocks noGrp="1"/>
          </p:cNvGraphicFramePr>
          <p:nvPr>
            <p:ph idx="1"/>
          </p:nvPr>
        </p:nvGraphicFramePr>
        <p:xfrm>
          <a:off x="685800" y="2708614"/>
          <a:ext cx="10515601" cy="2764028"/>
        </p:xfrm>
        <a:graphic>
          <a:graphicData uri="http://schemas.openxmlformats.org/drawingml/2006/table">
            <a:tbl>
              <a:tblPr firstRow="1" bandRow="1">
                <a:tableStyleId>{5C22544A-7EE6-4342-B048-85BDC9FD1C3A}</a:tableStyleId>
              </a:tblPr>
              <a:tblGrid>
                <a:gridCol w="5961240">
                  <a:extLst>
                    <a:ext uri="{9D8B030D-6E8A-4147-A177-3AD203B41FA5}">
                      <a16:colId xmlns:a16="http://schemas.microsoft.com/office/drawing/2014/main" val="1669264460"/>
                    </a:ext>
                  </a:extLst>
                </a:gridCol>
                <a:gridCol w="4554361">
                  <a:extLst>
                    <a:ext uri="{9D8B030D-6E8A-4147-A177-3AD203B41FA5}">
                      <a16:colId xmlns:a16="http://schemas.microsoft.com/office/drawing/2014/main" val="3291359101"/>
                    </a:ext>
                  </a:extLst>
                </a:gridCol>
              </a:tblGrid>
              <a:tr h="691007">
                <a:tc>
                  <a:txBody>
                    <a:bodyPr/>
                    <a:lstStyle/>
                    <a:p>
                      <a:pPr>
                        <a:buNone/>
                      </a:pPr>
                      <a:r>
                        <a:rPr lang="en-US" sz="3100"/>
                        <a:t>Condition</a:t>
                      </a:r>
                    </a:p>
                  </a:txBody>
                  <a:tcPr marL="157047" marR="157047" marT="78523" marB="78523" anchor="ctr"/>
                </a:tc>
                <a:tc>
                  <a:txBody>
                    <a:bodyPr/>
                    <a:lstStyle/>
                    <a:p>
                      <a:pPr>
                        <a:buNone/>
                      </a:pPr>
                      <a:r>
                        <a:rPr lang="en-US" sz="3100"/>
                        <a:t>Budget Status</a:t>
                      </a:r>
                    </a:p>
                  </a:txBody>
                  <a:tcPr marL="157047" marR="157047" marT="78523" marB="78523" anchor="ctr"/>
                </a:tc>
                <a:extLst>
                  <a:ext uri="{0D108BD9-81ED-4DB2-BD59-A6C34878D82A}">
                    <a16:rowId xmlns:a16="http://schemas.microsoft.com/office/drawing/2014/main" val="3423803287"/>
                  </a:ext>
                </a:extLst>
              </a:tr>
              <a:tr h="691007">
                <a:tc>
                  <a:txBody>
                    <a:bodyPr/>
                    <a:lstStyle/>
                    <a:p>
                      <a:pPr>
                        <a:buNone/>
                      </a:pPr>
                      <a:r>
                        <a:rPr lang="en-US" sz="3100"/>
                        <a:t>Total Income &gt; Total Expenses</a:t>
                      </a:r>
                    </a:p>
                  </a:txBody>
                  <a:tcPr marL="157047" marR="157047" marT="78523" marB="78523" anchor="ctr"/>
                </a:tc>
                <a:tc>
                  <a:txBody>
                    <a:bodyPr/>
                    <a:lstStyle/>
                    <a:p>
                      <a:pPr>
                        <a:buNone/>
                      </a:pPr>
                      <a:r>
                        <a:rPr lang="en-US" sz="3100"/>
                        <a:t>Surplus / Saving</a:t>
                      </a:r>
                    </a:p>
                  </a:txBody>
                  <a:tcPr marL="157047" marR="157047" marT="78523" marB="78523" anchor="ctr"/>
                </a:tc>
                <a:extLst>
                  <a:ext uri="{0D108BD9-81ED-4DB2-BD59-A6C34878D82A}">
                    <a16:rowId xmlns:a16="http://schemas.microsoft.com/office/drawing/2014/main" val="1344147686"/>
                  </a:ext>
                </a:extLst>
              </a:tr>
              <a:tr h="691007">
                <a:tc>
                  <a:txBody>
                    <a:bodyPr/>
                    <a:lstStyle/>
                    <a:p>
                      <a:pPr>
                        <a:buNone/>
                      </a:pPr>
                      <a:r>
                        <a:rPr lang="en-US" sz="3100"/>
                        <a:t>Total Income = Total Expenses</a:t>
                      </a:r>
                    </a:p>
                  </a:txBody>
                  <a:tcPr marL="157047" marR="157047" marT="78523" marB="78523" anchor="ctr"/>
                </a:tc>
                <a:tc>
                  <a:txBody>
                    <a:bodyPr/>
                    <a:lstStyle/>
                    <a:p>
                      <a:pPr>
                        <a:buNone/>
                      </a:pPr>
                      <a:r>
                        <a:rPr lang="en-US" sz="3100"/>
                        <a:t>Balanced Budget</a:t>
                      </a:r>
                    </a:p>
                  </a:txBody>
                  <a:tcPr marL="157047" marR="157047" marT="78523" marB="78523" anchor="ctr"/>
                </a:tc>
                <a:extLst>
                  <a:ext uri="{0D108BD9-81ED-4DB2-BD59-A6C34878D82A}">
                    <a16:rowId xmlns:a16="http://schemas.microsoft.com/office/drawing/2014/main" val="2217121112"/>
                  </a:ext>
                </a:extLst>
              </a:tr>
              <a:tr h="691007">
                <a:tc>
                  <a:txBody>
                    <a:bodyPr/>
                    <a:lstStyle/>
                    <a:p>
                      <a:pPr>
                        <a:buNone/>
                      </a:pPr>
                      <a:r>
                        <a:rPr lang="en-US" sz="3100"/>
                        <a:t>Total Income &lt; Total Expenses</a:t>
                      </a:r>
                    </a:p>
                  </a:txBody>
                  <a:tcPr marL="157047" marR="157047" marT="78523" marB="78523" anchor="ctr"/>
                </a:tc>
                <a:tc>
                  <a:txBody>
                    <a:bodyPr/>
                    <a:lstStyle/>
                    <a:p>
                      <a:pPr>
                        <a:buNone/>
                      </a:pPr>
                      <a:r>
                        <a:rPr lang="en-US" sz="3100"/>
                        <a:t>Overspending Warning</a:t>
                      </a:r>
                    </a:p>
                  </a:txBody>
                  <a:tcPr marL="157047" marR="157047" marT="78523" marB="78523" anchor="ctr"/>
                </a:tc>
                <a:extLst>
                  <a:ext uri="{0D108BD9-81ED-4DB2-BD59-A6C34878D82A}">
                    <a16:rowId xmlns:a16="http://schemas.microsoft.com/office/drawing/2014/main" val="666273987"/>
                  </a:ext>
                </a:extLst>
              </a:tr>
            </a:tbl>
          </a:graphicData>
        </a:graphic>
      </p:graphicFrame>
    </p:spTree>
    <p:extLst>
      <p:ext uri="{BB962C8B-B14F-4D97-AF65-F5344CB8AC3E}">
        <p14:creationId xmlns:p14="http://schemas.microsoft.com/office/powerpoint/2010/main" val="17680790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86678-C1B9-3A43-0344-60CD00676DE1}"/>
              </a:ext>
            </a:extLst>
          </p:cNvPr>
          <p:cNvSpPr>
            <a:spLocks noGrp="1"/>
          </p:cNvSpPr>
          <p:nvPr>
            <p:ph type="title"/>
          </p:nvPr>
        </p:nvSpPr>
        <p:spPr>
          <a:xfrm>
            <a:off x="457199" y="377072"/>
            <a:ext cx="4958078" cy="1225485"/>
          </a:xfrm>
        </p:spPr>
        <p:txBody>
          <a:bodyPr anchor="t">
            <a:normAutofit/>
          </a:bodyPr>
          <a:lstStyle/>
          <a:p>
            <a:r>
              <a:rPr lang="en-US"/>
              <a:t>Algorithm Overview</a:t>
            </a:r>
          </a:p>
        </p:txBody>
      </p:sp>
      <p:pic>
        <p:nvPicPr>
          <p:cNvPr id="5" name="Content Placeholder 4" descr="Female drawing flow chart">
            <a:extLst>
              <a:ext uri="{FF2B5EF4-FFF2-40B4-BE49-F238E27FC236}">
                <a16:creationId xmlns:a16="http://schemas.microsoft.com/office/drawing/2014/main" id="{097584AC-8FA3-4D67-B0D3-80F7E02C742E}"/>
              </a:ext>
            </a:extLst>
          </p:cNvPr>
          <p:cNvPicPr>
            <a:picLocks noGrp="1" noChangeAspect="1"/>
          </p:cNvPicPr>
          <p:nvPr>
            <p:ph type="pic" sz="quarter" idx="13"/>
          </p:nvPr>
        </p:nvPicPr>
        <p:blipFill>
          <a:blip r:embed="rId3"/>
          <a:srcRect l="6340" r="10704" b="1"/>
          <a:stretch>
            <a:fillRect/>
          </a:stretch>
        </p:blipFill>
        <p:spPr>
          <a:xfrm>
            <a:off x="20" y="1842182"/>
            <a:ext cx="5758152" cy="4546457"/>
          </a:xfrm>
        </p:spPr>
      </p:pic>
      <p:sp>
        <p:nvSpPr>
          <p:cNvPr id="4" name="Content Placeholder 3">
            <a:extLst>
              <a:ext uri="{FF2B5EF4-FFF2-40B4-BE49-F238E27FC236}">
                <a16:creationId xmlns:a16="http://schemas.microsoft.com/office/drawing/2014/main" id="{B4BF33BE-6F98-349A-D9BC-230767D39E2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lvl="0" indent="0">
              <a:spcBef>
                <a:spcPts val="2500"/>
              </a:spcBef>
              <a:buFont typeface="Arial" panose="020B0604020202020204" pitchFamily="34" charset="0"/>
              <a:buNone/>
            </a:pPr>
            <a:r>
              <a:rPr lang="en-US" sz="1400" b="1"/>
              <a:t>User Information Collection</a:t>
            </a:r>
          </a:p>
          <a:p>
            <a:pPr marL="0" lvl="1" indent="0">
              <a:buFont typeface="Arial" panose="020B0604020202020204" pitchFamily="34" charset="0"/>
              <a:buNone/>
            </a:pPr>
            <a:r>
              <a:rPr lang="en-US" sz="1400"/>
              <a:t>The system begins by displaying the title and collecting user details like name and budget period.</a:t>
            </a:r>
          </a:p>
          <a:p>
            <a:pPr marL="0" lvl="0" indent="0">
              <a:spcBef>
                <a:spcPts val="2500"/>
              </a:spcBef>
              <a:buFont typeface="Arial" panose="020B0604020202020204" pitchFamily="34" charset="0"/>
              <a:buNone/>
            </a:pPr>
            <a:r>
              <a:rPr lang="en-US" sz="1400" b="1"/>
              <a:t>Income and Expense Entry</a:t>
            </a:r>
          </a:p>
          <a:p>
            <a:pPr marL="0" lvl="1" indent="0">
              <a:buFont typeface="Arial" panose="020B0604020202020204" pitchFamily="34" charset="0"/>
              <a:buNone/>
            </a:pPr>
            <a:r>
              <a:rPr lang="en-US" sz="1400"/>
              <a:t>Loops allow multiple income and expense entries with input validation to prevent negative values.</a:t>
            </a:r>
          </a:p>
          <a:p>
            <a:pPr marL="0" lvl="0" indent="0">
              <a:spcBef>
                <a:spcPts val="2500"/>
              </a:spcBef>
              <a:buFont typeface="Arial" panose="020B0604020202020204" pitchFamily="34" charset="0"/>
              <a:buNone/>
            </a:pPr>
            <a:r>
              <a:rPr lang="en-US" sz="1400" b="1"/>
              <a:t>Balance Calculation</a:t>
            </a:r>
          </a:p>
          <a:p>
            <a:pPr marL="0" lvl="1" indent="0">
              <a:buFont typeface="Arial" panose="020B0604020202020204" pitchFamily="34" charset="0"/>
              <a:buNone/>
            </a:pPr>
            <a:r>
              <a:rPr lang="en-US" sz="1400"/>
              <a:t>The algorithm calculates remaining balance by subtracting total expenses from total income.</a:t>
            </a:r>
          </a:p>
          <a:p>
            <a:pPr marL="0" lvl="0" indent="0">
              <a:spcBef>
                <a:spcPts val="2500"/>
              </a:spcBef>
              <a:buFont typeface="Arial" panose="020B0604020202020204" pitchFamily="34" charset="0"/>
              <a:buNone/>
            </a:pPr>
            <a:r>
              <a:rPr lang="en-US" sz="1400" b="1"/>
              <a:t>Budget Status and Reporting</a:t>
            </a:r>
          </a:p>
          <a:p>
            <a:pPr marL="0" lvl="1" indent="0">
              <a:buFont typeface="Arial" panose="020B0604020202020204" pitchFamily="34" charset="0"/>
              <a:buNone/>
            </a:pPr>
            <a:r>
              <a:rPr lang="en-US" sz="1400"/>
              <a:t>Decision statements classify budget status and the system displays reports and saves to file.</a:t>
            </a:r>
          </a:p>
        </p:txBody>
      </p:sp>
    </p:spTree>
    <p:extLst>
      <p:ext uri="{BB962C8B-B14F-4D97-AF65-F5344CB8AC3E}">
        <p14:creationId xmlns:p14="http://schemas.microsoft.com/office/powerpoint/2010/main" val="13372971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81054-B93F-68A8-F92C-DF2CD6AF7CB5}"/>
              </a:ext>
            </a:extLst>
          </p:cNvPr>
          <p:cNvSpPr>
            <a:spLocks noGrp="1"/>
          </p:cNvSpPr>
          <p:nvPr>
            <p:ph type="title"/>
          </p:nvPr>
        </p:nvSpPr>
        <p:spPr>
          <a:xfrm>
            <a:off x="457199" y="377072"/>
            <a:ext cx="4958078" cy="1225485"/>
          </a:xfrm>
        </p:spPr>
        <p:txBody>
          <a:bodyPr anchor="t">
            <a:normAutofit/>
          </a:bodyPr>
          <a:lstStyle/>
          <a:p>
            <a:r>
              <a:rPr lang="en-US"/>
              <a:t>C++ Concepts Used</a:t>
            </a:r>
          </a:p>
        </p:txBody>
      </p:sp>
      <p:pic>
        <p:nvPicPr>
          <p:cNvPr id="5" name="Content Placeholder 4"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79EA07E3-4532-47FB-8E3A-98606F95C16B}"/>
              </a:ext>
            </a:extLst>
          </p:cNvPr>
          <p:cNvPicPr>
            <a:picLocks noGrp="1" noChangeAspect="1"/>
          </p:cNvPicPr>
          <p:nvPr>
            <p:ph type="pic" sz="quarter" idx="13"/>
          </p:nvPr>
        </p:nvPicPr>
        <p:blipFill>
          <a:blip r:embed="rId3"/>
          <a:srcRect l="15460"/>
          <a:stretch>
            <a:fillRect/>
          </a:stretch>
        </p:blipFill>
        <p:spPr>
          <a:xfrm>
            <a:off x="20" y="1842182"/>
            <a:ext cx="5758152" cy="4546457"/>
          </a:xfrm>
        </p:spPr>
      </p:pic>
      <p:sp>
        <p:nvSpPr>
          <p:cNvPr id="4" name="Content Placeholder 3">
            <a:extLst>
              <a:ext uri="{FF2B5EF4-FFF2-40B4-BE49-F238E27FC236}">
                <a16:creationId xmlns:a16="http://schemas.microsoft.com/office/drawing/2014/main" id="{D80AAFAA-54D7-B74F-D98E-F2869472795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lvl="0" indent="0">
              <a:spcBef>
                <a:spcPts val="2500"/>
              </a:spcBef>
              <a:buFont typeface="Arial" panose="020B0604020202020204" pitchFamily="34" charset="0"/>
              <a:buNone/>
            </a:pPr>
            <a:r>
              <a:rPr lang="en-US" sz="1400" b="1"/>
              <a:t>Input and Output Operations</a:t>
            </a:r>
          </a:p>
          <a:p>
            <a:pPr marL="0" lvl="1" indent="0">
              <a:buFont typeface="Arial" panose="020B0604020202020204" pitchFamily="34" charset="0"/>
              <a:buNone/>
            </a:pPr>
            <a:r>
              <a:rPr lang="en-US" sz="1400"/>
              <a:t>Used cin and cout to handle user input and display output effectively in the program.</a:t>
            </a:r>
          </a:p>
          <a:p>
            <a:pPr marL="0" lvl="0" indent="0">
              <a:spcBef>
                <a:spcPts val="2500"/>
              </a:spcBef>
              <a:buFont typeface="Arial" panose="020B0604020202020204" pitchFamily="34" charset="0"/>
              <a:buNone/>
            </a:pPr>
            <a:r>
              <a:rPr lang="en-US" sz="1400" b="1"/>
              <a:t>Variables and Data Types</a:t>
            </a:r>
          </a:p>
          <a:p>
            <a:pPr marL="0" lvl="1" indent="0">
              <a:buFont typeface="Arial" panose="020B0604020202020204" pitchFamily="34" charset="0"/>
              <a:buNone/>
            </a:pPr>
            <a:r>
              <a:rPr lang="en-US" sz="1400"/>
              <a:t>Stored financial values using appropriate variables and data types to ensure data integrity.</a:t>
            </a:r>
          </a:p>
          <a:p>
            <a:pPr marL="0" lvl="0" indent="0">
              <a:spcBef>
                <a:spcPts val="2500"/>
              </a:spcBef>
              <a:buFont typeface="Arial" panose="020B0604020202020204" pitchFamily="34" charset="0"/>
              <a:buNone/>
            </a:pPr>
            <a:r>
              <a:rPr lang="en-US" sz="1400" b="1"/>
              <a:t>Control Structures</a:t>
            </a:r>
          </a:p>
          <a:p>
            <a:pPr marL="0" lvl="1" indent="0">
              <a:buFont typeface="Arial" panose="020B0604020202020204" pitchFamily="34" charset="0"/>
              <a:buNone/>
            </a:pPr>
            <a:r>
              <a:rPr lang="en-US" sz="1400"/>
              <a:t>Implemented loops for multiple entries and conditional statements for validation and classification.</a:t>
            </a:r>
          </a:p>
          <a:p>
            <a:pPr marL="0" lvl="0" indent="0">
              <a:spcBef>
                <a:spcPts val="2500"/>
              </a:spcBef>
              <a:buFont typeface="Arial" panose="020B0604020202020204" pitchFamily="34" charset="0"/>
              <a:buNone/>
            </a:pPr>
            <a:r>
              <a:rPr lang="en-US" sz="1400" b="1"/>
              <a:t>Functions, Classes, and File Handling</a:t>
            </a:r>
          </a:p>
          <a:p>
            <a:pPr marL="0" lvl="1" indent="0">
              <a:buFont typeface="Arial" panose="020B0604020202020204" pitchFamily="34" charset="0"/>
              <a:buNone/>
            </a:pPr>
            <a:r>
              <a:rPr lang="en-US" sz="1400"/>
              <a:t>Used functions and classes for organization, and file handling to save reports.</a:t>
            </a:r>
          </a:p>
        </p:txBody>
      </p:sp>
    </p:spTree>
    <p:extLst>
      <p:ext uri="{BB962C8B-B14F-4D97-AF65-F5344CB8AC3E}">
        <p14:creationId xmlns:p14="http://schemas.microsoft.com/office/powerpoint/2010/main" val="11825377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6717A-01BE-99B7-06C6-13589158EF95}"/>
              </a:ext>
            </a:extLst>
          </p:cNvPr>
          <p:cNvSpPr>
            <a:spLocks noGrp="1"/>
          </p:cNvSpPr>
          <p:nvPr>
            <p:ph type="title"/>
          </p:nvPr>
        </p:nvSpPr>
        <p:spPr>
          <a:xfrm>
            <a:off x="7739922" y="458144"/>
            <a:ext cx="3909536" cy="1485873"/>
          </a:xfrm>
        </p:spPr>
        <p:txBody>
          <a:bodyPr anchor="b">
            <a:normAutofit/>
          </a:bodyPr>
          <a:lstStyle/>
          <a:p>
            <a:r>
              <a:rPr lang="en-US"/>
              <a:t>Budget Status Logic</a:t>
            </a:r>
          </a:p>
        </p:txBody>
      </p:sp>
      <p:pic>
        <p:nvPicPr>
          <p:cNvPr id="5" name="Content Placeholder 4" descr="Piggy bank and energy efficiency symbols sitting amongst coin stacks over white background. Horizontal composition with selective focus and copy space. Energy efficiency concept.">
            <a:extLst>
              <a:ext uri="{FF2B5EF4-FFF2-40B4-BE49-F238E27FC236}">
                <a16:creationId xmlns:a16="http://schemas.microsoft.com/office/drawing/2014/main" id="{5ACA8E20-23C3-4C3D-82FD-38326624E9B7}"/>
              </a:ext>
            </a:extLst>
          </p:cNvPr>
          <p:cNvPicPr>
            <a:picLocks noGrp="1" noChangeAspect="1"/>
          </p:cNvPicPr>
          <p:nvPr>
            <p:ph type="pic" sz="quarter" idx="13"/>
          </p:nvPr>
        </p:nvPicPr>
        <p:blipFill>
          <a:blip r:embed="rId3"/>
          <a:srcRect l="16436" r="14246" b="-1"/>
          <a:stretch>
            <a:fillRect/>
          </a:stretch>
        </p:blipFill>
        <p:spPr>
          <a:xfrm>
            <a:off x="20" y="10"/>
            <a:ext cx="7268376" cy="6396271"/>
          </a:xfrm>
        </p:spPr>
      </p:pic>
      <p:sp>
        <p:nvSpPr>
          <p:cNvPr id="4" name="Content Placeholder 3">
            <a:extLst>
              <a:ext uri="{FF2B5EF4-FFF2-40B4-BE49-F238E27FC236}">
                <a16:creationId xmlns:a16="http://schemas.microsoft.com/office/drawing/2014/main" id="{2F83F671-8ADD-761B-EA73-FEBDF84E3FB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39922" y="2463789"/>
            <a:ext cx="3909534" cy="3561091"/>
          </a:xfrm>
        </p:spPr>
        <p:txBody>
          <a:bodyPr>
            <a:normAutofit/>
          </a:bodyPr>
          <a:lstStyle/>
          <a:p>
            <a:pPr marL="0" lvl="0" indent="0">
              <a:lnSpc>
                <a:spcPct val="110000"/>
              </a:lnSpc>
              <a:spcBef>
                <a:spcPts val="2500"/>
              </a:spcBef>
              <a:buFont typeface="Arial" panose="020B0604020202020204" pitchFamily="34" charset="0"/>
              <a:buNone/>
            </a:pPr>
            <a:r>
              <a:rPr lang="en-US" sz="1400" b="1"/>
              <a:t>Relational Comparison Logic</a:t>
            </a:r>
          </a:p>
          <a:p>
            <a:pPr marL="0" lvl="1" indent="0">
              <a:lnSpc>
                <a:spcPct val="110000"/>
              </a:lnSpc>
              <a:buFont typeface="Arial" panose="020B0604020202020204" pitchFamily="34" charset="0"/>
              <a:buNone/>
            </a:pPr>
            <a:r>
              <a:rPr lang="en-US" sz="1400"/>
              <a:t>Budget status logic uses simple relational comparisons to classify spending behavior accurately.</a:t>
            </a:r>
          </a:p>
          <a:p>
            <a:pPr marL="0" lvl="0" indent="0">
              <a:lnSpc>
                <a:spcPct val="110000"/>
              </a:lnSpc>
              <a:spcBef>
                <a:spcPts val="2500"/>
              </a:spcBef>
              <a:buFont typeface="Arial" panose="020B0604020202020204" pitchFamily="34" charset="0"/>
              <a:buNone/>
            </a:pPr>
            <a:r>
              <a:rPr lang="en-US" sz="1400" b="1"/>
              <a:t>Financial Status Labels</a:t>
            </a:r>
          </a:p>
          <a:p>
            <a:pPr marL="0" lvl="1" indent="0">
              <a:lnSpc>
                <a:spcPct val="110000"/>
              </a:lnSpc>
              <a:buFont typeface="Arial" panose="020B0604020202020204" pitchFamily="34" charset="0"/>
              <a:buNone/>
            </a:pPr>
            <a:r>
              <a:rPr lang="en-US" sz="1400"/>
              <a:t>Clear labeling of saving, balanced, or overspending status helps users understand their finances quickly.</a:t>
            </a:r>
          </a:p>
          <a:p>
            <a:pPr marL="0" lvl="0" indent="0">
              <a:lnSpc>
                <a:spcPct val="110000"/>
              </a:lnSpc>
              <a:spcBef>
                <a:spcPts val="2500"/>
              </a:spcBef>
              <a:buFont typeface="Arial" panose="020B0604020202020204" pitchFamily="34" charset="0"/>
              <a:buNone/>
            </a:pPr>
            <a:r>
              <a:rPr lang="en-US" sz="1400" b="1"/>
              <a:t>User Decision Support</a:t>
            </a:r>
          </a:p>
          <a:p>
            <a:pPr marL="0" lvl="1" indent="0">
              <a:lnSpc>
                <a:spcPct val="110000"/>
              </a:lnSpc>
              <a:buFont typeface="Arial" panose="020B0604020202020204" pitchFamily="34" charset="0"/>
              <a:buNone/>
            </a:pPr>
            <a:r>
              <a:rPr lang="en-US" sz="1400"/>
              <a:t>Meaningful budget feedback supports better spending decisions and improved financial habits.</a:t>
            </a:r>
          </a:p>
        </p:txBody>
      </p:sp>
    </p:spTree>
    <p:extLst>
      <p:ext uri="{BB962C8B-B14F-4D97-AF65-F5344CB8AC3E}">
        <p14:creationId xmlns:p14="http://schemas.microsoft.com/office/powerpoint/2010/main" val="11988031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9493-53C9-8FB7-F035-C8778B08A46F}"/>
              </a:ext>
            </a:extLst>
          </p:cNvPr>
          <p:cNvSpPr>
            <a:spLocks noGrp="1"/>
          </p:cNvSpPr>
          <p:nvPr>
            <p:ph type="title"/>
          </p:nvPr>
        </p:nvSpPr>
        <p:spPr>
          <a:xfrm>
            <a:off x="8664673" y="586591"/>
            <a:ext cx="2915036" cy="1600279"/>
          </a:xfrm>
        </p:spPr>
        <p:txBody>
          <a:bodyPr anchor="b">
            <a:normAutofit/>
          </a:bodyPr>
          <a:lstStyle/>
          <a:p>
            <a:r>
              <a:rPr lang="en-US"/>
              <a:t>Sample Output</a:t>
            </a:r>
          </a:p>
        </p:txBody>
      </p:sp>
      <p:pic>
        <p:nvPicPr>
          <p:cNvPr id="5" name="Content Placeholder 4" descr="http://teekid.com/istockphoto/banner/banner3.jpg">
            <a:extLst>
              <a:ext uri="{FF2B5EF4-FFF2-40B4-BE49-F238E27FC236}">
                <a16:creationId xmlns:a16="http://schemas.microsoft.com/office/drawing/2014/main" id="{D08319D8-F45F-4F3F-9071-22B8D00B9B36}"/>
              </a:ext>
            </a:extLst>
          </p:cNvPr>
          <p:cNvPicPr>
            <a:picLocks noGrp="1" noChangeAspect="1"/>
          </p:cNvPicPr>
          <p:nvPr>
            <p:ph type="pic" sz="quarter" idx="13"/>
          </p:nvPr>
        </p:nvPicPr>
        <p:blipFill>
          <a:blip r:embed="rId3"/>
          <a:stretch/>
        </p:blipFill>
        <p:spPr>
          <a:xfrm>
            <a:off x="895113" y="0"/>
            <a:ext cx="6396281" cy="6396281"/>
          </a:xfrm>
        </p:spPr>
      </p:pic>
      <p:sp>
        <p:nvSpPr>
          <p:cNvPr id="4" name="Content Placeholder 3">
            <a:extLst>
              <a:ext uri="{FF2B5EF4-FFF2-40B4-BE49-F238E27FC236}">
                <a16:creationId xmlns:a16="http://schemas.microsoft.com/office/drawing/2014/main" id="{C119840E-9657-7C10-86D6-62B9619CF7C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664673" y="2714536"/>
            <a:ext cx="2915038" cy="3227167"/>
          </a:xfrm>
        </p:spPr>
        <p:txBody>
          <a:bodyPr>
            <a:normAutofit/>
          </a:bodyPr>
          <a:lstStyle/>
          <a:p>
            <a:pPr marL="0" lvl="0" indent="0">
              <a:spcBef>
                <a:spcPts val="2500"/>
              </a:spcBef>
              <a:buFont typeface="Arial" panose="020B0604020202020204" pitchFamily="34" charset="0"/>
              <a:buNone/>
            </a:pPr>
            <a:r>
              <a:rPr lang="en-US" sz="1400" b="1"/>
              <a:t>Clear Financial Summary</a:t>
            </a:r>
          </a:p>
          <a:p>
            <a:pPr marL="0" lvl="1" indent="0">
              <a:buFont typeface="Arial" panose="020B0604020202020204" pitchFamily="34" charset="0"/>
              <a:buNone/>
            </a:pPr>
            <a:r>
              <a:rPr lang="en-US" sz="1400"/>
              <a:t>The output clearly presents total income, expenses, remaining balance, and budget status for easy understanding.</a:t>
            </a:r>
          </a:p>
          <a:p>
            <a:pPr marL="0" lvl="0" indent="0">
              <a:spcBef>
                <a:spcPts val="2500"/>
              </a:spcBef>
              <a:buFont typeface="Arial" panose="020B0604020202020204" pitchFamily="34" charset="0"/>
              <a:buNone/>
            </a:pPr>
            <a:r>
              <a:rPr lang="en-US" sz="1400" b="1"/>
              <a:t>User Feedback Confirmation</a:t>
            </a:r>
          </a:p>
          <a:p>
            <a:pPr marL="0" lvl="1" indent="0">
              <a:buFont typeface="Arial" panose="020B0604020202020204" pitchFamily="34" charset="0"/>
              <a:buNone/>
            </a:pPr>
            <a:r>
              <a:rPr lang="en-US" sz="1400"/>
              <a:t>The sample output confirms the system meets functional requirements and provides valuable user feedback.</a:t>
            </a:r>
          </a:p>
        </p:txBody>
      </p:sp>
    </p:spTree>
    <p:extLst>
      <p:ext uri="{BB962C8B-B14F-4D97-AF65-F5344CB8AC3E}">
        <p14:creationId xmlns:p14="http://schemas.microsoft.com/office/powerpoint/2010/main" val="35324671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45B93-A62C-B026-86ED-64C3A6ECB971}"/>
              </a:ext>
            </a:extLst>
          </p:cNvPr>
          <p:cNvSpPr>
            <a:spLocks noGrp="1"/>
          </p:cNvSpPr>
          <p:nvPr>
            <p:ph type="title"/>
          </p:nvPr>
        </p:nvSpPr>
        <p:spPr>
          <a:xfrm>
            <a:off x="457199" y="377072"/>
            <a:ext cx="4958078" cy="1225485"/>
          </a:xfrm>
        </p:spPr>
        <p:txBody>
          <a:bodyPr anchor="t">
            <a:normAutofit/>
          </a:bodyPr>
          <a:lstStyle/>
          <a:p>
            <a:r>
              <a:rPr lang="en-US"/>
              <a:t>Conclusion</a:t>
            </a:r>
          </a:p>
        </p:txBody>
      </p:sp>
      <p:pic>
        <p:nvPicPr>
          <p:cNvPr id="5" name="Content Placeholder 4" descr="Keys that say Budget on the keyboard. 3D abstract concept. Horizontal composition with copy space.">
            <a:extLst>
              <a:ext uri="{FF2B5EF4-FFF2-40B4-BE49-F238E27FC236}">
                <a16:creationId xmlns:a16="http://schemas.microsoft.com/office/drawing/2014/main" id="{D848751F-30D2-4EA8-AA54-A021455CFED4}"/>
              </a:ext>
            </a:extLst>
          </p:cNvPr>
          <p:cNvPicPr>
            <a:picLocks noGrp="1" noChangeAspect="1"/>
          </p:cNvPicPr>
          <p:nvPr>
            <p:ph type="pic" sz="quarter" idx="13"/>
          </p:nvPr>
        </p:nvPicPr>
        <p:blipFill>
          <a:blip r:embed="rId3"/>
          <a:srcRect r="18624" b="-3"/>
          <a:stretch>
            <a:fillRect/>
          </a:stretch>
        </p:blipFill>
        <p:spPr>
          <a:xfrm>
            <a:off x="20" y="1842182"/>
            <a:ext cx="5758152" cy="4546457"/>
          </a:xfrm>
        </p:spPr>
      </p:pic>
      <p:sp>
        <p:nvSpPr>
          <p:cNvPr id="4" name="Content Placeholder 3">
            <a:extLst>
              <a:ext uri="{FF2B5EF4-FFF2-40B4-BE49-F238E27FC236}">
                <a16:creationId xmlns:a16="http://schemas.microsoft.com/office/drawing/2014/main" id="{49EFDFC3-A72A-454E-B2BB-7F2BADE44A6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lvl="0" indent="0">
              <a:spcBef>
                <a:spcPts val="2500"/>
              </a:spcBef>
              <a:buFont typeface="Arial" panose="020B0604020202020204" pitchFamily="34" charset="0"/>
              <a:buNone/>
            </a:pPr>
            <a:r>
              <a:rPr lang="en-US" sz="1400" b="1" dirty="0"/>
              <a:t>Application of C++ Concepts</a:t>
            </a:r>
          </a:p>
          <a:p>
            <a:pPr marL="0" lvl="1" indent="0">
              <a:buFont typeface="Arial" panose="020B0604020202020204" pitchFamily="34" charset="0"/>
              <a:buNone/>
            </a:pPr>
            <a:r>
              <a:rPr lang="en-US" sz="1400" dirty="0"/>
              <a:t>Project applies core C++ concepts to effectively address real-world budgeting challenges.</a:t>
            </a:r>
          </a:p>
          <a:p>
            <a:pPr marL="0" lvl="0" indent="0">
              <a:spcBef>
                <a:spcPts val="2500"/>
              </a:spcBef>
              <a:buFont typeface="Arial" panose="020B0604020202020204" pitchFamily="34" charset="0"/>
              <a:buNone/>
            </a:pPr>
            <a:r>
              <a:rPr lang="en-US" sz="1400" b="1" dirty="0"/>
              <a:t>User-Friendly Budget System</a:t>
            </a:r>
          </a:p>
          <a:p>
            <a:pPr marL="0" lvl="1" indent="0">
              <a:buFont typeface="Arial" panose="020B0604020202020204" pitchFamily="34" charset="0"/>
              <a:buNone/>
            </a:pPr>
            <a:r>
              <a:rPr lang="en-US" sz="1400" dirty="0"/>
              <a:t>System design focuses on simplicity and usability for tracking income and expenses.</a:t>
            </a:r>
          </a:p>
          <a:p>
            <a:pPr marL="0" lvl="0" indent="0">
              <a:spcBef>
                <a:spcPts val="2500"/>
              </a:spcBef>
              <a:buFont typeface="Arial" panose="020B0604020202020204" pitchFamily="34" charset="0"/>
              <a:buNone/>
            </a:pPr>
            <a:r>
              <a:rPr lang="en-US" sz="1400" b="1" dirty="0"/>
              <a:t>Skill Development</a:t>
            </a:r>
          </a:p>
          <a:p>
            <a:pPr marL="0" lvl="1" indent="0">
              <a:buFont typeface="Arial" panose="020B0604020202020204" pitchFamily="34" charset="0"/>
              <a:buNone/>
            </a:pPr>
            <a:r>
              <a:rPr lang="en-US" sz="1400" dirty="0"/>
              <a:t>Students enhance programming skills and practical problem-solving through project experience.</a:t>
            </a:r>
          </a:p>
          <a:p>
            <a:pPr marL="0" lvl="0" indent="0">
              <a:spcBef>
                <a:spcPts val="2500"/>
              </a:spcBef>
              <a:buFont typeface="Arial" panose="020B0604020202020204" pitchFamily="34" charset="0"/>
              <a:buNone/>
            </a:pPr>
            <a:r>
              <a:rPr lang="en-US" sz="1400" b="1" dirty="0"/>
              <a:t>Preparation for Advanced Projects</a:t>
            </a:r>
          </a:p>
          <a:p>
            <a:pPr marL="0" lvl="1" indent="0">
              <a:buFont typeface="Arial" panose="020B0604020202020204" pitchFamily="34" charset="0"/>
              <a:buNone/>
            </a:pPr>
            <a:r>
              <a:rPr lang="en-US" sz="1400" dirty="0"/>
              <a:t>Project reinforces good coding practices, documentation, and presentation for future challenges.</a:t>
            </a:r>
          </a:p>
        </p:txBody>
      </p:sp>
    </p:spTree>
    <p:extLst>
      <p:ext uri="{BB962C8B-B14F-4D97-AF65-F5344CB8AC3E}">
        <p14:creationId xmlns:p14="http://schemas.microsoft.com/office/powerpoint/2010/main" val="40465589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2784</Words>
  <Application>Microsoft Office PowerPoint</Application>
  <PresentationFormat>Widescreen</PresentationFormat>
  <Paragraphs>107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 Light</vt:lpstr>
      <vt:lpstr>Arial</vt:lpstr>
      <vt:lpstr>Calibri</vt:lpstr>
      <vt:lpstr>Walbaum Display</vt:lpstr>
      <vt:lpstr>Shoji</vt:lpstr>
      <vt:lpstr>Personal Budget Tracker – G R O U P  25 Project Presentation</vt:lpstr>
      <vt:lpstr>Personal Budget Tracker Project Overview</vt:lpstr>
      <vt:lpstr>Title and Project Identification</vt:lpstr>
      <vt:lpstr>Project Background</vt:lpstr>
      <vt:lpstr>Problem Statement</vt:lpstr>
      <vt:lpstr>Aim and Objectives</vt:lpstr>
      <vt:lpstr>Application Requirements</vt:lpstr>
      <vt:lpstr>Algorithm Overview</vt:lpstr>
      <vt:lpstr>C++ Concepts Used</vt:lpstr>
      <vt:lpstr>Budget Status Logic</vt:lpstr>
      <vt:lpstr>Sample Output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01243179b@st.atu.edu.gh</dc:creator>
  <cp:lastModifiedBy>Christian Quaye Asante</cp:lastModifiedBy>
  <cp:revision>1</cp:revision>
  <dcterms:modified xsi:type="dcterms:W3CDTF">2026-07-17T14:17:38Z</dcterms:modified>
</cp:coreProperties>
</file>